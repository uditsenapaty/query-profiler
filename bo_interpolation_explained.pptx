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881360" cy="23774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Bayesian Optimization for </a:t>
            </a:r>
            <a:r>
              <a:rPr sz="4000" b="1" i="0">
                <a:solidFill>
                  <a:srgbClr val="6FD3DA"/>
                </a:solidFill>
                <a:latin typeface="Segoe UI"/>
              </a:rPr>
              <a:t>Q-error Boundaries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C8D2DA"/>
                </a:solidFill>
                <a:latin typeface="Segoe UI"/>
              </a:rPr>
              <a:t>Using BO as an online sampler to find where the optimizer mis-predicts — not to predict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881360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9FB0BC"/>
                </a:solidFill>
                <a:latin typeface="Segoe UI"/>
              </a:rPr>
              <a:t>Objective:   </a:t>
            </a:r>
            <a:r>
              <a:rPr sz="1700" b="1" i="0">
                <a:solidFill>
                  <a:srgbClr val="FFFFFF"/>
                </a:solidFill>
                <a:latin typeface="Consolas"/>
              </a:rPr>
              <a:t>maximise q(P₁,P₂) = max(rt₁,rt₂)/min(rt₁,rt₂)  over predicate values, fixed template + DB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0" i="0">
                <a:solidFill>
                  <a:srgbClr val="9FB0BC"/>
                </a:solidFill>
                <a:latin typeface="Segoe UI"/>
              </a:rPr>
              <a:t>3 representations · 5 kernels · 5 acquisitions (+3 baselines) = 78 methods · 10% budget · run on gt_results_sf1_10x10_s1q0  (5 queries × 3 sampling methods = 15 grids)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0E7C86"/>
                </a:solidFill>
                <a:latin typeface="Consolas"/>
              </a:rPr>
              <a:t>scripts/bo_interpolation.py  +  evaluate_bo_interpolation.py  +  bo_interpolation_summary.py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7C86"/>
                </a:solidFill>
                <a:latin typeface="Segoe UI"/>
              </a:rPr>
              <a:t>PROBLEM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F2A37"/>
                </a:solidFill>
                <a:latin typeface="Segoe UI"/>
              </a:rPr>
              <a:t>The goal is a sampler, not a runtime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Bayesian Optimization · q-error boundary discovery  ·  scripts/bo_interpolation.py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5623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We do </a:t>
            </a:r>
            <a:r>
              <a:rPr sz="1550" b="1" i="0">
                <a:solidFill>
                  <a:srgbClr val="B12A2A"/>
                </a:solidFill>
                <a:latin typeface="Segoe UI"/>
              </a:rPr>
              <a:t>not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build a general runtime predictor.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We use BO as an </a:t>
            </a:r>
            <a:r>
              <a:rPr sz="1550" b="1" i="0">
                <a:solidFill>
                  <a:srgbClr val="1F2A37"/>
                </a:solidFill>
                <a:latin typeface="Segoe UI"/>
              </a:rPr>
              <a:t>online intelligent sampler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to efficiently discover </a:t>
            </a:r>
            <a:r>
              <a:rPr sz="1550" b="1" i="0">
                <a:solidFill>
                  <a:srgbClr val="B45309"/>
                </a:solidFill>
                <a:latin typeface="Segoe UI"/>
              </a:rPr>
              <a:t>high-q-error (boundary) regions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Quantity of interest is </a:t>
            </a:r>
            <a:r>
              <a:rPr sz="1550" b="1" i="0">
                <a:solidFill>
                  <a:srgbClr val="1F2A37"/>
                </a:solidFill>
                <a:latin typeface="Segoe UI"/>
              </a:rPr>
              <a:t>q-error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, not runtime itself.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Condition on everything except the predicate values:</a:t>
            </a:r>
          </a:p>
          <a:p>
            <a:pPr lvl="2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6B7280"/>
                </a:solidFill>
                <a:latin typeface="Segoe UI"/>
              </a:rPr>
              <a:t>·  </a:t>
            </a:r>
            <a:r>
              <a:rPr sz="1400" b="0" i="0">
                <a:solidFill>
                  <a:srgbClr val="1F2A37"/>
                </a:solidFill>
                <a:latin typeface="Segoe UI"/>
              </a:rPr>
              <a:t>query template, DB instance, indexes, PG config, hardware — all fixed.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So the black box reduces to  </a:t>
            </a:r>
            <a:r>
              <a:rPr sz="1550" b="1" i="0">
                <a:solidFill>
                  <a:srgbClr val="0E7C86"/>
                </a:solidFill>
                <a:latin typeface="Consolas"/>
              </a:rPr>
              <a:t>q = f(predicate values) = f(grid point)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Another DB / template = a </a:t>
            </a:r>
            <a:r>
              <a:rPr sz="1550" b="0" i="1">
                <a:solidFill>
                  <a:srgbClr val="1F2A37"/>
                </a:solidFill>
                <a:latin typeface="Segoe UI"/>
              </a:rPr>
              <a:t>new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optimization problem (no cross-DB transfer).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371600"/>
            <a:ext cx="5349240" cy="233172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 w="12700">
            <a:solidFill>
              <a:srgbClr val="E8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83096" y="1426464"/>
            <a:ext cx="509320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7C86"/>
                </a:solidFill>
                <a:latin typeface="Segoe UI"/>
              </a:rPr>
              <a:t>online BO — never build the full grid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1737360"/>
            <a:ext cx="5093208" cy="19110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initial random samples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      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      ▼   measure q  →  fit GP surrogate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      ▼   acquisition picks next point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      ▼   measure q  →  update GP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      └────────── repeat (online) ─────────┘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3886200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 w="12700">
            <a:solidFill>
              <a:srgbClr val="E8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3096" y="3941064"/>
            <a:ext cx="509320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B45309"/>
                </a:solidFill>
                <a:latin typeface="Segoe UI"/>
              </a:rPr>
              <a:t>the conditioned black box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4251960"/>
            <a:ext cx="5093208" cy="6309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q = f( predicate_values | template, DB,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        indexes, pg_config, hardware 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5074920"/>
            <a:ext cx="53492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6B7280"/>
                </a:solidFill>
                <a:latin typeface="Segoe UI"/>
              </a:rPr>
              <a:t>Analogous to BO for hyper-parameter tuning: dataset &amp; model fixed, only the knobs (here, predicate values) vary.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7C86"/>
                </a:solidFill>
                <a:latin typeface="Segoe UI"/>
              </a:rPr>
              <a:t>FOUNDATIONS · LABEL &amp; INSTANCES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F2A37"/>
                </a:solidFill>
                <a:latin typeface="Segoe UI"/>
              </a:rPr>
              <a:t>Instance = axis-neighbour pair;  label = its q-error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Bayesian Optimization · q-error boundary discovery  ·  scripts/bo_interpolation.py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5486400" cy="109728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 w="12700">
            <a:solidFill>
              <a:srgbClr val="E8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426464"/>
            <a:ext cx="523036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7C86"/>
                </a:solidFill>
                <a:latin typeface="Segoe UI"/>
              </a:rPr>
              <a:t>symmetric ratio  (bo_interpolation.symmetric_ratio)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1737360"/>
            <a:ext cx="5230368" cy="6766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F2A37"/>
                </a:solidFill>
                <a:latin typeface="Consolas"/>
              </a:rPr>
              <a:t>q(a,b) = max(rtₐ, rt_b) / min(rtₐ, rt_b)  ≥ 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F2A37"/>
                </a:solidFill>
                <a:latin typeface="Consolas"/>
              </a:rPr>
              <a:t>model in log-space:  z = log q   →   q̂ = eᶻ ≥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97480"/>
            <a:ext cx="5486400" cy="16002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 w="12700">
            <a:solidFill>
              <a:srgbClr val="E8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2752344"/>
            <a:ext cx="523036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7C86"/>
                </a:solidFill>
                <a:latin typeface="Segoe UI"/>
              </a:rPr>
              <a:t>grid → directed axis-neighbour pairs  (10×10 resolution)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3063240"/>
            <a:ext cx="5230368" cy="117957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points        = N × N        = 11 × 11 = 121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pairs / axis  = (N−1) × N    = 10 × 11 = 110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TOTAL pairs P = 2·(N−1)·N    = 220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neighbour of (i,j):  (i+1,j) [axis0] , (i,j+1) [axis1]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371600"/>
            <a:ext cx="5349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156F3B"/>
                </a:solidFill>
                <a:latin typeface="Segoe UI"/>
              </a:rPr>
              <a:t>q ≈ 1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= neighbours run alike (smooth).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B45309"/>
                </a:solidFill>
                <a:latin typeface="Segoe UI"/>
              </a:rPr>
              <a:t>q large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= a runtime cliff between neighbours (e.g. a plan flip) — the </a:t>
            </a:r>
            <a:r>
              <a:rPr sz="1550" b="1" i="0">
                <a:solidFill>
                  <a:srgbClr val="1F2A37"/>
                </a:solidFill>
                <a:latin typeface="Segoe UI"/>
              </a:rPr>
              <a:t>boundary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we want to find.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The neighbour is </a:t>
            </a:r>
            <a:r>
              <a:rPr sz="1550" b="1" i="0">
                <a:solidFill>
                  <a:srgbClr val="1F2A37"/>
                </a:solidFill>
                <a:latin typeface="Segoe UI"/>
              </a:rPr>
              <a:t>deterministic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once the grid is built — this enables representation B.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Most of the 220 pairs are ≈1; only a handful are large.  On this grid q ranges </a:t>
            </a:r>
            <a:r>
              <a:rPr sz="1550" b="1" i="0">
                <a:solidFill>
                  <a:srgbClr val="B45309"/>
                </a:solidFill>
                <a:latin typeface="Consolas"/>
              </a:rPr>
              <a:t>1 → ~1500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Budget = </a:t>
            </a:r>
            <a:r>
              <a:rPr sz="1550" b="1" i="0">
                <a:solidFill>
                  <a:srgbClr val="1F2A37"/>
                </a:solidFill>
                <a:latin typeface="Segoe UI"/>
              </a:rPr>
              <a:t>10% of P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 ⇒  measure only ~22 of 220 pairs.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7C86"/>
                </a:solidFill>
                <a:latin typeface="Segoe UI"/>
              </a:rPr>
              <a:t>DESIGN · INPUT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F2A37"/>
                </a:solidFill>
                <a:latin typeface="Segoe UI"/>
              </a:rPr>
              <a:t>Two representations of a BO input  (A is the default)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Bayesian Optimization · q-error boundary discovery  ·  scripts/bo_interpolation.py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11183110" cy="17007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54713"/>
                <a:gridCol w="2000231"/>
                <a:gridCol w="3000347"/>
                <a:gridCol w="545517"/>
                <a:gridCol w="4182302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input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feature X  (2-D grid)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fdim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pros / cons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B45309"/>
                          </a:solidFill>
                          <a:latin typeface="Segoe UI"/>
                        </a:rPr>
                        <a:t>A · pair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A37"/>
                          </a:solidFill>
                          <a:latin typeface="Consolas"/>
                        </a:rPr>
                        <a:t>(P₁, P₂)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A37"/>
                          </a:solidFill>
                          <a:latin typeface="Consolas"/>
                        </a:rPr>
                        <a:t>[P₁ , P₂]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A37"/>
                          </a:solidFill>
                          <a:latin typeface="Segoe UI"/>
                        </a:rPr>
                        <a:t>general, no neighbour assumption · higher-dim, redundant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0E7C86"/>
                          </a:solidFill>
                          <a:latin typeface="Segoe UI"/>
                        </a:rPr>
                        <a:t>B · point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A37"/>
                          </a:solidFill>
                          <a:latin typeface="Consolas"/>
                        </a:rPr>
                        <a:t>P  (+ det. neighbour)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A37"/>
                          </a:solidFill>
                          <a:latin typeface="Consolas"/>
                        </a:rPr>
                        <a:t>[P₁]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A37"/>
                          </a:solidFill>
                          <a:latin typeface="Segoe UI"/>
                        </a:rPr>
                        <a:t>lower-dim · H+V pairs share X=P (collision)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56F3B"/>
                          </a:solidFill>
                          <a:latin typeface="Segoe UI"/>
                        </a:rPr>
                        <a:t>B-split · point/axis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A37"/>
                          </a:solidFill>
                          <a:latin typeface="Consolas"/>
                        </a:rPr>
                        <a:t>P  (one BO per axis)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A37"/>
                          </a:solidFill>
                          <a:latin typeface="Consolas"/>
                        </a:rPr>
                        <a:t>[P₁]  ×2 models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A37"/>
                          </a:solidFill>
                          <a:latin typeface="Segoe UI"/>
                        </a:rPr>
                        <a:t>recovers axis info, NO extra feature · no collision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3246120"/>
            <a:ext cx="5486400" cy="105156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 w="12700">
            <a:solidFill>
              <a:srgbClr val="E8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3300984"/>
            <a:ext cx="523036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7C86"/>
                </a:solidFill>
                <a:latin typeface="Segoe UI"/>
              </a:rPr>
              <a:t>same target, different 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3611880"/>
            <a:ext cx="5230368" cy="6309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both:  label = q(P₁, P₂)   (same 220 pairs)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differ only in the feature X the GP sees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246120"/>
            <a:ext cx="5349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1F2A37"/>
                </a:solidFill>
                <a:latin typeface="Segoe UI"/>
              </a:rPr>
              <a:t>Professor's hint: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if the neighbour is deterministic, a function of </a:t>
            </a:r>
            <a:r>
              <a:rPr sz="1550" b="1" i="0">
                <a:solidFill>
                  <a:srgbClr val="1F2A37"/>
                </a:solidFill>
                <a:latin typeface="Segoe UI"/>
              </a:rPr>
              <a:t>P₁ alone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(rep B) may suffice.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All horizontal &amp; vertical pairs are still evaluated — B only shrinks the feature, not the pair set.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Test both; if similar, prefer the </a:t>
            </a:r>
            <a:r>
              <a:rPr sz="1550" b="1" i="0">
                <a:solidFill>
                  <a:srgbClr val="1F2A37"/>
                </a:solidFill>
                <a:latin typeface="Segoe UI"/>
              </a:rPr>
              <a:t>lower-dimensional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rep B (easier GP fit).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434840"/>
            <a:ext cx="548640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6B7280"/>
                </a:solidFill>
                <a:latin typeface="Segoe UI"/>
              </a:rPr>
              <a:t>Feature X is exactly the specified input — no axis one-hot.  Rep B lets a point's H &amp; V pairs share X = P; B-split fixes that with one BO per axis (still input = P).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7C86"/>
                </a:solidFill>
                <a:latin typeface="Segoe UI"/>
              </a:rPr>
              <a:t>SURROGATE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F2A37"/>
                </a:solidFill>
                <a:latin typeface="Segoe UI"/>
              </a:rPr>
              <a:t>Gaussian-Process surrogate over log q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Bayesian Optimization · q-error boundary discovery  ·  scripts/bo_interpolation.py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5486400" cy="246888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 w="12700">
            <a:solidFill>
              <a:srgbClr val="E8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426464"/>
            <a:ext cx="523036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7C86"/>
                </a:solidFill>
                <a:latin typeface="Segoe UI"/>
              </a:rPr>
              <a:t>sklearn GaussianProcessRegressor  (make_gp)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1737360"/>
            <a:ext cx="5230368" cy="20482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fit on sampled (X, log q):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  μ(X)  = k*ᵀ (K + σ²I)⁻¹ y      posterior mean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  σ²(X) = k(X,X) − k*ᵀ(K+σ²I)⁻¹k*  posterior var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k*  = kernel from X to every sampled pair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hyper-params by MLE (sklearn L-BFGS), normalize_y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371600"/>
            <a:ext cx="5349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The GP returns both a </a:t>
            </a:r>
            <a:r>
              <a:rPr sz="1550" b="1" i="0">
                <a:solidFill>
                  <a:srgbClr val="1F2A37"/>
                </a:solidFill>
                <a:latin typeface="Segoe UI"/>
              </a:rPr>
              <a:t>best guess μ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and an </a:t>
            </a:r>
            <a:r>
              <a:rPr sz="1550" b="1" i="0">
                <a:solidFill>
                  <a:srgbClr val="1F2A37"/>
                </a:solidFill>
                <a:latin typeface="Segoe UI"/>
              </a:rPr>
              <a:t>uncertainty σ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at every un-sampled pair.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1F2A37"/>
                </a:solidFill>
                <a:latin typeface="Segoe UI"/>
              </a:rPr>
              <a:t>σ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is exactly what lets an acquisition </a:t>
            </a:r>
            <a:r>
              <a:rPr sz="1550" b="0" i="1">
                <a:solidFill>
                  <a:srgbClr val="1F2A37"/>
                </a:solidFill>
                <a:latin typeface="Segoe UI"/>
              </a:rPr>
              <a:t>choose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the next pair to measure.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Everything is done in </a:t>
            </a:r>
            <a:r>
              <a:rPr sz="1550" b="1" i="0">
                <a:solidFill>
                  <a:srgbClr val="1F2A37"/>
                </a:solidFill>
                <a:latin typeface="Segoe UI"/>
              </a:rPr>
              <a:t>log-q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space (ratios are multiplicative), then exp() back — so q̂ ≥ 1 always.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kernel = </a:t>
            </a:r>
            <a:r>
              <a:rPr sz="1550" b="0" i="0">
                <a:solidFill>
                  <a:srgbClr val="1F2A37"/>
                </a:solidFill>
                <a:latin typeface="Consolas"/>
              </a:rPr>
              <a:t>C·k(r) + WhiteKernel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— a signal scale, the shape below, and a learned noise floor.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7C86"/>
                </a:solidFill>
                <a:latin typeface="Segoe UI"/>
              </a:rPr>
              <a:t>SURROGATE · KERNELS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F2A37"/>
                </a:solidFill>
                <a:latin typeface="Segoe UI"/>
              </a:rPr>
              <a:t>Every kernel we sweep  (k(r), r = ‖X − X'‖ z-scored)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Bayesian Optimization · q-error boundary discovery  ·  scripts/bo_interpolation.py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11183110" cy="30723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6626"/>
                <a:gridCol w="3941588"/>
                <a:gridCol w="5224896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kernel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k(r)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smoothness / behaviour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A37"/>
                          </a:solidFill>
                          <a:latin typeface="Segoe UI"/>
                        </a:rPr>
                        <a:t>rbf  (SE)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A37"/>
                          </a:solidFill>
                          <a:latin typeface="Consolas"/>
                        </a:rPr>
                        <a:t>exp(−r²/2ℓ²)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∞-differentiable — very smooth (can over-smooth cliffs)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A37"/>
                          </a:solidFill>
                          <a:latin typeface="Segoe UI"/>
                        </a:rPr>
                        <a:t>matern12  (ν=½)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A37"/>
                          </a:solidFill>
                          <a:latin typeface="Consolas"/>
                        </a:rPr>
                        <a:t>exp(−r/ℓ)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non-differentiable — rough, reacts fast to local jumps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A37"/>
                          </a:solidFill>
                          <a:latin typeface="Segoe UI"/>
                        </a:rPr>
                        <a:t>matern32  (ν=3/2)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A37"/>
                          </a:solidFill>
                          <a:latin typeface="Consolas"/>
                        </a:rPr>
                        <a:t>(1 + √3·r/ℓ)·exp(−√3·r/ℓ)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1× differentiable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B45309"/>
                          </a:solidFill>
                          <a:latin typeface="Segoe UI"/>
                        </a:rPr>
                        <a:t>matern52  (ν=5/2)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A37"/>
                          </a:solidFill>
                          <a:latin typeface="Consolas"/>
                        </a:rPr>
                        <a:t>(1 + √5·r/ℓ + 5r²/3ℓ²)·exp(−√5·r/ℓ)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A37"/>
                          </a:solidFill>
                          <a:latin typeface="Segoe UI"/>
                        </a:rPr>
                        <a:t>2× differentiable — curvature but finite at a cliff (best here)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A37"/>
                          </a:solidFill>
                          <a:latin typeface="Segoe UI"/>
                        </a:rPr>
                        <a:t>rquad  (RQ)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A37"/>
                          </a:solidFill>
                          <a:latin typeface="Consolas"/>
                        </a:rPr>
                        <a:t>(1 + r²/2αℓ²)^(−α)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scale-mixture of RBFs (many length-scales at once)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532120"/>
            <a:ext cx="11183112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F2A37"/>
                </a:solidFill>
                <a:latin typeface="Segoe UI"/>
              </a:rPr>
              <a:t>Each kernel is wrapped as  </a:t>
            </a:r>
            <a:r>
              <a:rPr sz="1250" b="1" i="0">
                <a:solidFill>
                  <a:srgbClr val="1F2A37"/>
                </a:solidFill>
                <a:latin typeface="Consolas"/>
              </a:rPr>
              <a:t>ConstantKernel(σ_f²)·k(r) + WhiteKernel(noise)</a:t>
            </a:r>
            <a:r>
              <a:rPr sz="1250" b="0" i="0">
                <a:solidFill>
                  <a:srgbClr val="1F2A37"/>
                </a:solidFill>
                <a:latin typeface="Segoe UI"/>
              </a:rPr>
              <a:t>  and its (σ_f, ℓ, noise) fit by marginal-likelihood at every BO step.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45309"/>
                </a:solidFill>
                <a:latin typeface="Segoe UI"/>
              </a:rPr>
              <a:t>SAMPLER · ACQUISITIONS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F2A37"/>
                </a:solidFill>
                <a:latin typeface="Segoe UI"/>
              </a:rPr>
              <a:t>Every acquisition — the one line that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Bayesian Optimization · q-error boundary discovery  ·  scripts/bo_interpolation.py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280160"/>
          <a:ext cx="11183111" cy="27066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77243"/>
                <a:gridCol w="5542073"/>
                <a:gridCol w="3463795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</a:rPr>
                        <a:t>acquisition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</a:rPr>
                        <a:t>score a(X)  — pick argmax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</a:rPr>
                        <a:t>intent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F2A37"/>
                          </a:solidFill>
                          <a:latin typeface="Segoe UI"/>
                        </a:rPr>
                        <a:t>sigma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A37"/>
                          </a:solidFill>
                          <a:latin typeface="Consolas"/>
                        </a:rPr>
                        <a:t>σ(X)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pure explore / reconstruct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B45309"/>
                          </a:solidFill>
                          <a:latin typeface="Segoe UI"/>
                        </a:rPr>
                        <a:t>ucb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A37"/>
                          </a:solidFill>
                          <a:latin typeface="Consolas"/>
                        </a:rPr>
                        <a:t>μ + κ·σ      (κ = 2)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balance — hunt the peak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F2A37"/>
                          </a:solidFill>
                          <a:latin typeface="Segoe UI"/>
                        </a:rPr>
                        <a:t>ei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A37"/>
                          </a:solidFill>
                          <a:latin typeface="Consolas"/>
                        </a:rPr>
                        <a:t>(μ−f⁺)·Φ(z) + σ·φ(z),   z=(μ−f⁺)/σ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expected gain over best f⁺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F2A37"/>
                          </a:solidFill>
                          <a:latin typeface="Segoe UI"/>
                        </a:rPr>
                        <a:t>pi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A37"/>
                          </a:solidFill>
                          <a:latin typeface="Consolas"/>
                        </a:rPr>
                        <a:t>Φ(z),   z=(μ−f⁺)/σ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probability of beating f⁺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F2A37"/>
                          </a:solidFill>
                          <a:latin typeface="Segoe UI"/>
                        </a:rPr>
                        <a:t>ts  (Thompson)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A37"/>
                          </a:solidFill>
                          <a:latin typeface="Consolas"/>
                        </a:rPr>
                        <a:t>draw g ~ GP posterior;  a = g(X)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randomised explore/exploit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297680"/>
            <a:ext cx="1118311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F2A37"/>
                </a:solidFill>
                <a:latin typeface="Consolas"/>
              </a:rPr>
              <a:t>Φ</a:t>
            </a:r>
            <a:r>
              <a:rPr sz="1600" b="0" i="0">
                <a:solidFill>
                  <a:srgbClr val="1F2A37"/>
                </a:solidFill>
                <a:latin typeface="Segoe UI"/>
              </a:rPr>
              <a:t> = normal CDF   </a:t>
            </a:r>
            <a:r>
              <a:rPr sz="1600" b="1" i="0">
                <a:solidFill>
                  <a:srgbClr val="1F2A37"/>
                </a:solidFill>
                <a:latin typeface="Consolas"/>
              </a:rPr>
              <a:t>φ</a:t>
            </a:r>
            <a:r>
              <a:rPr sz="1600" b="0" i="0">
                <a:solidFill>
                  <a:srgbClr val="1F2A37"/>
                </a:solidFill>
                <a:latin typeface="Segoe UI"/>
              </a:rPr>
              <a:t> = normal PDF   </a:t>
            </a:r>
            <a:r>
              <a:rPr sz="1600" b="1" i="0">
                <a:solidFill>
                  <a:srgbClr val="1F2A37"/>
                </a:solidFill>
                <a:latin typeface="Consolas"/>
              </a:rPr>
              <a:t>f⁺</a:t>
            </a:r>
            <a:r>
              <a:rPr sz="1600" b="0" i="0">
                <a:solidFill>
                  <a:srgbClr val="1F2A37"/>
                </a:solidFill>
                <a:latin typeface="Segoe UI"/>
              </a:rPr>
              <a:t> = best log-q seen so far   </a:t>
            </a:r>
            <a:r>
              <a:rPr sz="1600" b="1" i="0">
                <a:solidFill>
                  <a:srgbClr val="1F2A37"/>
                </a:solidFill>
                <a:latin typeface="Consolas"/>
              </a:rPr>
              <a:t>μ,σ</a:t>
            </a:r>
            <a:r>
              <a:rPr sz="1600" b="0" i="0">
                <a:solidFill>
                  <a:srgbClr val="1F2A37"/>
                </a:solidFill>
                <a:latin typeface="Segoe UI"/>
              </a:rPr>
              <a:t> = GP posterior (log-q)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800600"/>
            <a:ext cx="111831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0E7C86"/>
                </a:solidFill>
                <a:latin typeface="Segoe UI"/>
              </a:rPr>
              <a:t>sigma / ts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spread out → good for </a:t>
            </a:r>
            <a:r>
              <a:rPr sz="1550" b="1" i="0">
                <a:solidFill>
                  <a:srgbClr val="1F2A37"/>
                </a:solidFill>
                <a:latin typeface="Segoe UI"/>
              </a:rPr>
              <a:t>reconstruction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(accurate surface everywhere).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B45309"/>
                </a:solidFill>
                <a:latin typeface="Segoe UI"/>
              </a:rPr>
              <a:t>ucb / ei / pi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chase high μ → good for </a:t>
            </a:r>
            <a:r>
              <a:rPr sz="1550" b="1" i="0">
                <a:solidFill>
                  <a:srgbClr val="1F2A37"/>
                </a:solidFill>
                <a:latin typeface="Segoe UI"/>
              </a:rPr>
              <a:t>boundary discovery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(find &amp; cover the cliffs).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7C86"/>
                </a:solidFill>
                <a:latin typeface="Segoe UI"/>
              </a:rPr>
              <a:t>SAMPLER · THE ONLINE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F2A37"/>
                </a:solidFill>
                <a:latin typeface="Segoe UI"/>
              </a:rPr>
              <a:t>One loop, swap the acquisition; 10% budget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Bayesian Optimization · q-error boundary discovery  ·  scripts/bo_interpolation.py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6766560" cy="237744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 w="12700">
            <a:solidFill>
              <a:srgbClr val="E8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426464"/>
            <a:ext cx="651052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7C86"/>
                </a:solidFill>
                <a:latin typeface="Segoe UI"/>
              </a:rPr>
              <a:t>run_bo()  — refit after every observation (online)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1737360"/>
            <a:ext cx="6510528" cy="195681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A37"/>
                </a:solidFill>
                <a:latin typeface="Consolas"/>
              </a:rPr>
              <a:t>seed  ← 6 random distinct pairs      (shared across all runs)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A37"/>
                </a:solidFill>
                <a:latin typeface="Consolas"/>
              </a:rPr>
              <a:t>while |sampled| &lt; BUDGET:            # BUDGET = ⌈0.10·P⌉ = 22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A37"/>
                </a:solidFill>
                <a:latin typeface="Consolas"/>
              </a:rPr>
              <a:t>    fit GP(kernel) on sampled (X, log q)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A37"/>
                </a:solidFill>
                <a:latin typeface="Consolas"/>
              </a:rPr>
              <a:t>    μ, σ ← GP.predict(all 220 pairs)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A37"/>
                </a:solidFill>
                <a:latin typeface="Consolas"/>
              </a:rPr>
              <a:t>    score ← ACQUISITION(μ, σ)        ◄ the ONE differing line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A37"/>
                </a:solidFill>
                <a:latin typeface="Consolas"/>
              </a:rPr>
              <a:t>    next  ← argmax score  (un-sampled)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A37"/>
                </a:solidFill>
                <a:latin typeface="Consolas"/>
              </a:rPr>
              <a:t>    measure q(next) ; add to sampled  # 'measure' = read ground_truth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463040"/>
            <a:ext cx="4297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1F2A37"/>
                </a:solidFill>
                <a:latin typeface="Segoe UI"/>
              </a:rPr>
              <a:t>Same 6-pair seed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for every (rep × kernel × acq) → fair comparison.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1F2A37"/>
                </a:solidFill>
                <a:latin typeface="Segoe UI"/>
              </a:rPr>
              <a:t>Baselines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: random &amp; uniform-stride sample once, then linear-interpolate.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Consolas"/>
              </a:rPr>
              <a:t>ground_truth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measures all 220 — the reference.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977639"/>
            <a:ext cx="6766560" cy="9144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 w="12700">
            <a:solidFill>
              <a:srgbClr val="E8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" y="4032503"/>
            <a:ext cx="651052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B45309"/>
                </a:solidFill>
                <a:latin typeface="Segoe UI"/>
              </a:rPr>
              <a:t>budget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4343399"/>
            <a:ext cx="6510528" cy="49377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MIN = max(5, 2·dim+2)=6      BUDGET = min(P, max(MIN, ⌈0.10·P⌉))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4343400"/>
            <a:ext cx="429768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2A37"/>
                </a:solidFill>
                <a:latin typeface="Segoe UI"/>
              </a:rPr>
              <a:t>Grid: </a:t>
            </a:r>
            <a:r>
              <a:rPr sz="1300" b="1" i="0">
                <a:solidFill>
                  <a:srgbClr val="B45309"/>
                </a:solidFill>
                <a:latin typeface="Segoe UI"/>
              </a:rPr>
              <a:t>78 methods</a:t>
            </a:r>
            <a:r>
              <a:rPr sz="1300" b="0" i="0">
                <a:solidFill>
                  <a:srgbClr val="1F2A37"/>
                </a:solidFill>
                <a:latin typeface="Segoe UI"/>
              </a:rPr>
              <a:t> = 3 baselines + 3 reps × 5 kernels × 5 acquisitions (75 BO), run on each of </a:t>
            </a:r>
            <a:r>
              <a:rPr sz="1300" b="1" i="0">
                <a:solidFill>
                  <a:srgbClr val="1F2A37"/>
                </a:solidFill>
                <a:latin typeface="Segoe UI"/>
              </a:rPr>
              <a:t>15 grids</a:t>
            </a:r>
            <a:r>
              <a:rPr sz="1300" b="0" i="0">
                <a:solidFill>
                  <a:srgbClr val="1F2A37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45309"/>
                </a:solidFill>
                <a:latin typeface="Segoe UI"/>
              </a:rPr>
              <a:t>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F2A37"/>
                </a:solidFill>
                <a:latin typeface="Segoe UI"/>
              </a:rPr>
              <a:t>Two families of metric: accuracy vs discovery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Bayesian Optimization · q-error boundary discovery  ·  scripts/bo_interpolation.py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5532120" cy="141732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 w="12700">
            <a:solidFill>
              <a:srgbClr val="E8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426464"/>
            <a:ext cx="527608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7C86"/>
                </a:solidFill>
                <a:latin typeface="Segoe UI"/>
              </a:rPr>
              <a:t>A. interpolation accuracy  (uses ŷ vs y on unseen)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1737360"/>
            <a:ext cx="5276088" cy="9966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pred q-error:  Q = max( y/ŷ , ŷ/y ) ≥ 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QERR_MEDIAN_UNSEEN = median Q over UN-sampled pairs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WITHIN_kX = % of pairs with Q ≤ 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926080"/>
            <a:ext cx="5532120" cy="1874519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 w="12700">
            <a:solidFill>
              <a:srgbClr val="E8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2980944"/>
            <a:ext cx="527608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45309"/>
                </a:solidFill>
                <a:latin typeface="Segoe UI"/>
              </a:rPr>
              <a:t>B. boundary discovery  (uses y_true of sampled 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3291840"/>
            <a:ext cx="5276088" cy="1453895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A37"/>
                </a:solidFill>
                <a:latin typeface="Consolas"/>
              </a:rPr>
              <a:t>max_qerr_found = max( y_true over SAMPLED pairs 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A37"/>
                </a:solidFill>
                <a:latin typeface="Consolas"/>
              </a:rPr>
              <a:t>max_found_pct  = 100 · max_found / max_true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A37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A37"/>
                </a:solidFill>
                <a:latin typeface="Consolas"/>
              </a:rPr>
              <a:t>coverage_5x = 100 · #(sampled, y&gt;5) / #(all, y&gt;5)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A37"/>
                </a:solidFill>
                <a:latin typeface="Consolas"/>
              </a:rPr>
              <a:t>  (breadth: fraction of q&gt;5 pairs actually sampled)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371600"/>
            <a:ext cx="5349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0E7C86"/>
                </a:solidFill>
                <a:latin typeface="Segoe UI"/>
              </a:rPr>
              <a:t>Accuracy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= how good is the interpolated q-surface where we </a:t>
            </a:r>
            <a:r>
              <a:rPr sz="1550" b="0" i="1">
                <a:solidFill>
                  <a:srgbClr val="1F2A37"/>
                </a:solidFill>
                <a:latin typeface="Segoe UI"/>
              </a:rPr>
              <a:t>didn't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sample.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B45309"/>
                </a:solidFill>
                <a:latin typeface="Segoe UI"/>
              </a:rPr>
              <a:t>Discovery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= did the sampler go to the right places?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0E7C86"/>
                </a:solidFill>
                <a:latin typeface="Segoe UI"/>
              </a:rPr>
              <a:t>–  </a:t>
            </a:r>
            <a:r>
              <a:rPr sz="1400" b="0" i="0">
                <a:solidFill>
                  <a:srgbClr val="1F2A37"/>
                </a:solidFill>
                <a:latin typeface="Consolas"/>
              </a:rPr>
              <a:t>max_found</a:t>
            </a:r>
            <a:r>
              <a:rPr sz="1400" b="0" i="0">
                <a:solidFill>
                  <a:srgbClr val="1F2A37"/>
                </a:solidFill>
                <a:latin typeface="Segoe UI"/>
              </a:rPr>
              <a:t> = did we hit the single </a:t>
            </a:r>
            <a:r>
              <a:rPr sz="1400" b="1" i="0">
                <a:solidFill>
                  <a:srgbClr val="1F2A37"/>
                </a:solidFill>
                <a:latin typeface="Segoe UI"/>
              </a:rPr>
              <a:t>tallest</a:t>
            </a:r>
            <a:r>
              <a:rPr sz="1400" b="0" i="0">
                <a:solidFill>
                  <a:srgbClr val="1F2A37"/>
                </a:solidFill>
                <a:latin typeface="Segoe UI"/>
              </a:rPr>
              <a:t> cliff?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0E7C86"/>
                </a:solidFill>
                <a:latin typeface="Segoe UI"/>
              </a:rPr>
              <a:t>–  </a:t>
            </a:r>
            <a:r>
              <a:rPr sz="1400" b="0" i="0">
                <a:solidFill>
                  <a:srgbClr val="1F2A37"/>
                </a:solidFill>
                <a:latin typeface="Consolas"/>
              </a:rPr>
              <a:t>coverage</a:t>
            </a:r>
            <a:r>
              <a:rPr sz="1400" b="0" i="0">
                <a:solidFill>
                  <a:srgbClr val="1F2A37"/>
                </a:solidFill>
                <a:latin typeface="Segoe UI"/>
              </a:rPr>
              <a:t> = did we catch </a:t>
            </a:r>
            <a:r>
              <a:rPr sz="1400" b="1" i="0">
                <a:solidFill>
                  <a:srgbClr val="1F2A37"/>
                </a:solidFill>
                <a:latin typeface="Segoe UI"/>
              </a:rPr>
              <a:t>many</a:t>
            </a:r>
            <a:r>
              <a:rPr sz="1400" b="0" i="0">
                <a:solidFill>
                  <a:srgbClr val="1F2A37"/>
                </a:solidFill>
                <a:latin typeface="Segoe UI"/>
              </a:rPr>
              <a:t> of the cliffs?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These are </a:t>
            </a:r>
            <a:r>
              <a:rPr sz="1550" b="1" i="0">
                <a:solidFill>
                  <a:srgbClr val="1F2A37"/>
                </a:solidFill>
                <a:latin typeface="Segoe UI"/>
              </a:rPr>
              <a:t>independent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: a method can hit the peak yet miss most of the boundary, or vice-versa.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That independence is the whole story of the results 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45309"/>
                </a:solidFill>
                <a:latin typeface="Segoe UI"/>
              </a:rPr>
              <a:t>RESULTS ·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F2A37"/>
                </a:solidFill>
                <a:latin typeface="Segoe UI"/>
              </a:rPr>
              <a:t>Top methods on gt_results_sf1_10x10_s1q0  (mean over 15 grids)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Bayesian Optimization · q-error boundary discovery  ·  scripts/bo_interpolation.py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3109" cy="378561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142362"/>
                <a:gridCol w="1016646"/>
                <a:gridCol w="1293913"/>
                <a:gridCol w="831801"/>
                <a:gridCol w="1756025"/>
                <a:gridCol w="1571181"/>
                <a:gridCol w="1571181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method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rep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kernel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acq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med-unseen q ↓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max found % ↑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cover&gt;5x % ↑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6B7280"/>
                          </a:solidFill>
                          <a:latin typeface="Consolas"/>
                        </a:rPr>
                        <a:t>random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1.172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48.17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12.86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6B7280"/>
                          </a:solidFill>
                          <a:latin typeface="Consolas"/>
                        </a:rPr>
                        <a:t>uniform_stride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1.274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39.09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13.56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F2A37"/>
                          </a:solidFill>
                          <a:latin typeface="Consolas"/>
                        </a:rPr>
                        <a:t>bo_point_split_matern52_sigma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point_split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matern52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sigma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1.326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75.86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24.08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F2A37"/>
                          </a:solidFill>
                          <a:latin typeface="Consolas"/>
                        </a:rPr>
                        <a:t>bo_point_split_matern12_sigma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point_split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matern12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sigma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1.334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83.71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25.86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F2A37"/>
                          </a:solidFill>
                          <a:latin typeface="Consolas"/>
                        </a:rPr>
                        <a:t>bo_point_split_matern32_ts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point_split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matern32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ts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1.387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48.10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19.80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F2A37"/>
                          </a:solidFill>
                          <a:latin typeface="Consolas"/>
                        </a:rPr>
                        <a:t>bo_point_split_matern12_pi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point_split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matern12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pi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1.448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68.64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44.22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F2A37"/>
                          </a:solidFill>
                          <a:latin typeface="Consolas"/>
                        </a:rPr>
                        <a:t>bo_point_split_matern12_ei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point_split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matern12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ei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1.449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62.29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43.23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F2A37"/>
                          </a:solidFill>
                          <a:latin typeface="Consolas"/>
                        </a:rPr>
                        <a:t>bo_point_split_matern12_ts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point_split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matern12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ts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1.475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52.67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20.92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F2A37"/>
                          </a:solidFill>
                          <a:latin typeface="Consolas"/>
                        </a:rPr>
                        <a:t>bo_point_split_matern32_sigma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point_split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matern32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sigma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1.478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75.86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24.19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394960"/>
            <a:ext cx="11183112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F2A37"/>
                </a:solidFill>
                <a:latin typeface="Segoe UI"/>
              </a:rPr>
              <a:t>Baselines (grey) still win pure accuracy</a:t>
            </a:r>
            <a:r>
              <a:rPr sz="1600" b="0" i="0">
                <a:solidFill>
                  <a:srgbClr val="1F2A37"/>
                </a:solidFill>
                <a:latin typeface="Segoe UI"/>
              </a:rPr>
              <a:t> — BO with the </a:t>
            </a:r>
            <a:r>
              <a:rPr sz="1600" b="1" i="0">
                <a:solidFill>
                  <a:srgbClr val="1F2A37"/>
                </a:solidFill>
                <a:latin typeface="Consolas"/>
              </a:rPr>
              <a:t>sigma</a:t>
            </a:r>
            <a:r>
              <a:rPr sz="1600" b="0" i="0">
                <a:solidFill>
                  <a:srgbClr val="1F2A37"/>
                </a:solidFill>
                <a:latin typeface="Segoe UI"/>
              </a:rPr>
              <a:t> acquisition (matern32/52) is the first to tie them.  </a:t>
            </a:r>
            <a:r>
              <a:rPr sz="1600" b="0" i="1">
                <a:solidFill>
                  <a:srgbClr val="6B7280"/>
                </a:solidFill>
                <a:latin typeface="Segoe UI"/>
              </a:rPr>
              <a:t>Ranking by median-unseen q-error rewards reconstruction, not boundary-hunting.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45309"/>
                </a:solidFill>
                <a:latin typeface="Segoe UI"/>
              </a:rPr>
              <a:t>RESULTS · ACQUISITION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F2A37"/>
                </a:solidFill>
                <a:latin typeface="Segoe UI"/>
              </a:rPr>
              <a:t>Acquisition drives the explore/exploit split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Bayesian Optimization · q-error boundary discovery  ·  scripts/bo_interpolation.py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11</a:t>
            </a:r>
          </a:p>
        </p:txBody>
      </p:sp>
      <p:pic>
        <p:nvPicPr>
          <p:cNvPr id="8" name="Picture 7" descr="by_ac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675120" cy="3047337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06640" y="1463040"/>
          <a:ext cx="4297679" cy="234086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140200"/>
                <a:gridCol w="1052493"/>
                <a:gridCol w="1052493"/>
                <a:gridCol w="1052493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acq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med-q ↓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found% ↑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cov5% ↑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A37"/>
                          </a:solidFill>
                          <a:latin typeface="Consolas"/>
                        </a:rPr>
                        <a:t>ts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1.596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46.02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15.38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A37"/>
                          </a:solidFill>
                          <a:latin typeface="Consolas"/>
                        </a:rPr>
                        <a:t>sigma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2.219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59.64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28.25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A37"/>
                          </a:solidFill>
                          <a:latin typeface="Consolas"/>
                        </a:rPr>
                        <a:t>ei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3.270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51.45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37.17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A37"/>
                          </a:solidFill>
                          <a:latin typeface="Consolas"/>
                        </a:rPr>
                        <a:t>ucb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3.318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51.41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36.57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A37"/>
                          </a:solidFill>
                          <a:latin typeface="Consolas"/>
                        </a:rPr>
                        <a:t>pi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3.427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46.35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36.53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406640" y="4023360"/>
            <a:ext cx="4297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0E7C86"/>
                </a:solidFill>
                <a:latin typeface="Consolas"/>
              </a:rPr>
              <a:t>sigma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wins accuracy, low coverage.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B45309"/>
                </a:solidFill>
                <a:latin typeface="Consolas"/>
              </a:rPr>
              <a:t>ucb/pi/ei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~2× the coverage of the boundary.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Acquisition matters more than kernel or representation.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45309"/>
                </a:solidFill>
                <a:latin typeface="Segoe UI"/>
              </a:rPr>
              <a:t>RESULTS · KERNEL &amp;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F2A37"/>
                </a:solidFill>
                <a:latin typeface="Segoe UI"/>
              </a:rPr>
              <a:t>Axis-split wins; kernel matters less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Bayesian Optimization · q-error boundary discovery  ·  scripts/bo_interpolation.py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12</a:t>
            </a:r>
          </a:p>
        </p:txBody>
      </p:sp>
      <p:pic>
        <p:nvPicPr>
          <p:cNvPr id="8" name="Picture 7" descr="by_kern_r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675120" cy="2902226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06640" y="1463040"/>
          <a:ext cx="4297680" cy="21579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19072"/>
                <a:gridCol w="1289304"/>
                <a:gridCol w="1289304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kernel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med-q ↓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found% ↑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A37"/>
                          </a:solidFill>
                          <a:latin typeface="Consolas"/>
                        </a:rPr>
                        <a:t>matern32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2.535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50.78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A37"/>
                          </a:solidFill>
                          <a:latin typeface="Consolas"/>
                        </a:rPr>
                        <a:t>matern52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2.696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50.17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A37"/>
                          </a:solidFill>
                          <a:latin typeface="Consolas"/>
                        </a:rPr>
                        <a:t>matern12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2.743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48.89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A37"/>
                          </a:solidFill>
                          <a:latin typeface="Consolas"/>
                        </a:rPr>
                        <a:t>rquad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2.843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56.14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A37"/>
                          </a:solidFill>
                          <a:latin typeface="Consolas"/>
                        </a:rPr>
                        <a:t>rbf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3.012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48.89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406640" y="3977639"/>
          <a:ext cx="4297679" cy="142646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203350"/>
                <a:gridCol w="1031443"/>
                <a:gridCol w="1031443"/>
                <a:gridCol w="1031443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rep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med-q ↓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found% ↑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cov5% ↑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A37"/>
                          </a:solidFill>
                          <a:latin typeface="Consolas"/>
                        </a:rPr>
                        <a:t>point_split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1.671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70.54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34.89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A37"/>
                          </a:solidFill>
                          <a:latin typeface="Consolas"/>
                        </a:rPr>
                        <a:t>pair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2.934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42.28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28.84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A37"/>
                          </a:solidFill>
                          <a:latin typeface="Consolas"/>
                        </a:rPr>
                        <a:t>point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3.693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40.10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28.61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406640" y="5212080"/>
            <a:ext cx="429768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56F3B"/>
                </a:solidFill>
                <a:latin typeface="Segoe UI"/>
              </a:rPr>
              <a:t>point_split</a:t>
            </a:r>
            <a:r>
              <a:rPr sz="1200" b="0" i="0">
                <a:solidFill>
                  <a:srgbClr val="1F2A37"/>
                </a:solidFill>
                <a:latin typeface="Segoe UI"/>
              </a:rPr>
              <a:t> (one BO per axis) beats both pair and point on accuracy AND discovery — same input P, no collision.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45309"/>
                </a:solidFill>
                <a:latin typeface="Segoe UI"/>
              </a:rPr>
              <a:t>RESULTS ·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F2A37"/>
                </a:solidFill>
                <a:latin typeface="Segoe UI"/>
              </a:rPr>
              <a:t>Where the budget lands: explore vs exploit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Bayesian Optimization · q-error boundary discovery  ·  scripts/bo_interpolation.py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13</a:t>
            </a:r>
          </a:p>
        </p:txBody>
      </p:sp>
      <p:pic>
        <p:nvPicPr>
          <p:cNvPr id="8" name="Picture 7" descr="su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8412480" cy="43655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0" y="1554480"/>
            <a:ext cx="2651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1F2A37"/>
                </a:solidFill>
                <a:latin typeface="Segoe UI"/>
              </a:rPr>
              <a:t>Same grid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(qt8/m0), same kernel (matern5/2), same seed.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0E7C86"/>
                </a:solidFill>
                <a:latin typeface="Consolas"/>
              </a:rPr>
              <a:t>sigma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spreads samples to reduce uncertainty everywhere.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B45309"/>
                </a:solidFill>
                <a:latin typeface="Consolas"/>
              </a:rPr>
              <a:t>ucb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clusters on the bright high-q ridge.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Both hit the peak; ucb covers far more of the boundary.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45309"/>
                </a:solidFill>
                <a:latin typeface="Segoe UI"/>
              </a:rPr>
              <a:t>RESULTS · THE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F2A37"/>
                </a:solidFill>
                <a:latin typeface="Segoe UI"/>
              </a:rPr>
              <a:t>Peak-hitting vs breadth — one point per BO config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Bayesian Optimization · q-error boundary discovery  ·  scripts/bo_interpolation.py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14</a:t>
            </a:r>
          </a:p>
        </p:txBody>
      </p:sp>
      <p:pic>
        <p:nvPicPr>
          <p:cNvPr id="8" name="Picture 7" descr="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126480" cy="42699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4944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Y = </a:t>
            </a:r>
            <a:r>
              <a:rPr sz="1550" b="1" i="0">
                <a:solidFill>
                  <a:srgbClr val="1F2A37"/>
                </a:solidFill>
                <a:latin typeface="Segoe UI"/>
              </a:rPr>
              <a:t>max found %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(did you reach the tallest cliff).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X = </a:t>
            </a:r>
            <a:r>
              <a:rPr sz="1550" b="1" i="0">
                <a:solidFill>
                  <a:srgbClr val="1F2A37"/>
                </a:solidFill>
                <a:latin typeface="Segoe UI"/>
              </a:rPr>
              <a:t>coverage of q&gt;5x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(how many cliffs you caught).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B45309"/>
                </a:solidFill>
                <a:latin typeface="Consolas"/>
              </a:rPr>
              <a:t>ucb / ei / pi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occupy the high-coverage right side.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0E7C86"/>
                </a:solidFill>
                <a:latin typeface="Consolas"/>
              </a:rPr>
              <a:t>sigma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hits high peaks but sits at low coverage (explores broadly, not tail-focused).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1F2A37"/>
                </a:solidFill>
                <a:latin typeface="Consolas"/>
              </a:rPr>
              <a:t>ts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is the randomised middle ground.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7C86"/>
                </a:solidFill>
                <a:latin typeface="Segoe U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F2A37"/>
                </a:solidFill>
                <a:latin typeface="Segoe UI"/>
              </a:rPr>
              <a:t>Axis-split BO wins — then pick the acquisition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Bayesian Optimization · q-error boundary discovery  ·  scripts/bo_interpolation.py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8311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156F3B"/>
                </a:solidFill>
                <a:latin typeface="Segoe UI"/>
              </a:rPr>
              <a:t>Axis-split (one BO per axis) is the clear winner: </a:t>
            </a:r>
            <a:r>
              <a:rPr sz="1550" b="1" i="0">
                <a:solidFill>
                  <a:srgbClr val="1F2A37"/>
                </a:solidFill>
                <a:latin typeface="Consolas"/>
              </a:rPr>
              <a:t>point_split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leads every representation mean — med-unseen q 1.67, max-found 71%, coverage&gt;5x 35% (vs pair 2.93 / point 3.69).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B45309"/>
                </a:solidFill>
                <a:latin typeface="Segoe UI"/>
              </a:rPr>
              <a:t>Best boundary discovery: </a:t>
            </a:r>
            <a:r>
              <a:rPr sz="1550" b="1" i="0">
                <a:solidFill>
                  <a:srgbClr val="1F2A37"/>
                </a:solidFill>
                <a:latin typeface="Consolas"/>
              </a:rPr>
              <a:t>bo_point_split_matern32_ucb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 — 86% of the true max q-error, 44% coverage&gt;5x at 10% budget.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0E7C86"/>
                </a:solidFill>
                <a:latin typeface="Segoe UI"/>
              </a:rPr>
              <a:t>Best accuracy: </a:t>
            </a:r>
            <a:r>
              <a:rPr sz="1550" b="1" i="0">
                <a:solidFill>
                  <a:srgbClr val="1F2A37"/>
                </a:solidFill>
                <a:latin typeface="Consolas"/>
              </a:rPr>
              <a:t>bo_point_split_matern52_sigma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 (med-unseen q 1.326) — sigma ties the linear baselines AND still finds boundaries.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931920"/>
            <a:ext cx="5486400" cy="548640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Hunt boundaries  →  </a:t>
            </a:r>
            <a:r>
              <a:rPr sz="1400" b="0" i="0">
                <a:solidFill>
                  <a:srgbClr val="FFFFFF"/>
                </a:solidFill>
                <a:latin typeface="Consolas"/>
              </a:rPr>
              <a:t>point_split + ucb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931920"/>
            <a:ext cx="5486400" cy="548640"/>
          </a:xfrm>
          <a:prstGeom prst="roundRect">
            <a:avLst>
              <a:gd name="adj" fmla="val 6000"/>
            </a:avLst>
          </a:prstGeom>
          <a:solidFill>
            <a:srgbClr val="156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Accurate + finds cliffs  →  </a:t>
            </a:r>
            <a:r>
              <a:rPr sz="1400" b="0" i="0">
                <a:solidFill>
                  <a:srgbClr val="FFFFFF"/>
                </a:solidFill>
                <a:latin typeface="Consolas"/>
              </a:rPr>
              <a:t>point_split + sigma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00600"/>
            <a:ext cx="11183112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F2A37"/>
                </a:solidFill>
                <a:latin typeface="Segoe UI"/>
              </a:rPr>
              <a:t>Why axis-split?</a:t>
            </a:r>
            <a:r>
              <a:rPr sz="1350" b="0" i="0">
                <a:solidFill>
                  <a:srgbClr val="1F2A37"/>
                </a:solidFill>
                <a:latin typeface="Segoe UI"/>
              </a:rPr>
              <a:t>  the input stays exactly P, but running one BO per axis removes the horizontal/vertical X-collision — recovering the axis signal with NO extra feature.  </a:t>
            </a:r>
            <a:r>
              <a:rPr sz="1350" b="1" i="0">
                <a:solidFill>
                  <a:srgbClr val="156F3B"/>
                </a:solidFill>
                <a:latin typeface="Segoe UI"/>
              </a:rPr>
              <a:t>point_split is the recommended representation</a:t>
            </a:r>
            <a:r>
              <a:rPr sz="1350" b="0" i="0">
                <a:solidFill>
                  <a:srgbClr val="1F2A37"/>
                </a:solidFill>
                <a:latin typeface="Segoe UI"/>
              </a:rPr>
              <a:t>: sigma for an accurate surface, ucb for maximum boundary coverage — at a 10% budget a blind grid never targets.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