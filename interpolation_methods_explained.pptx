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Interpolating Runtime </a:t>
            </a:r>
            <a:r>
              <a:rPr sz="4000" b="1" i="0">
                <a:solidFill>
                  <a:srgbClr val="6FD3DA"/>
                </a:solidFill>
                <a:latin typeface="Segoe UI"/>
              </a:rPr>
              <a:t>Q-errors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C8D2DA"/>
                </a:solidFill>
                <a:latin typeface="Segoe UI"/>
              </a:rPr>
              <a:t>Sampling a parameter grid cheaply to estimate where the optimizer mis-predicts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9FB0BC"/>
                </a:solidFill>
                <a:latin typeface="Segoe UI"/>
              </a:rPr>
              <a:t>Q-error of a pair:   </a:t>
            </a:r>
            <a:r>
              <a:rPr sz="1800" b="1" i="0">
                <a:solidFill>
                  <a:srgbClr val="FFFFFF"/>
                </a:solidFill>
                <a:latin typeface="Consolas"/>
              </a:rPr>
              <a:t>q = max(rtₓ, rtₓ₋₁) / min(rtₓ, rtₓ₋₁)  ≥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9FB0BC"/>
                </a:solidFill>
                <a:latin typeface="Segoe UI"/>
              </a:rPr>
              <a:t>11 sampling methods · worked 5×5 grid (40 pairs) · every evaluation metric · Q5 results: parallel ON vs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7C86"/>
                </a:solidFill>
                <a:latin typeface="Consolas"/>
              </a:rPr>
              <a:t>scripts/interpolation.py   +   scripts/evaluate_interpolation.py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FOUNDATIONS · THE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What we predict:  the per-pair Q-error  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An instance = an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axis-neighbour pair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of grid points (a, b).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Each grid point has a measured runtime rt.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Label  Y  = symmetric runtime ratio of the pair: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≥ 1 always; </a:t>
            </a:r>
            <a:r>
              <a:rPr sz="1400" b="1" i="0">
                <a:solidFill>
                  <a:srgbClr val="156F3B"/>
                </a:solidFill>
                <a:latin typeface="Segoe UI"/>
              </a:rPr>
              <a:t>1 = identical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runtimes, large = a </a:t>
            </a:r>
            <a:r>
              <a:rPr sz="1400" b="1" i="0">
                <a:solidFill>
                  <a:srgbClr val="B45309"/>
                </a:solidFill>
                <a:latin typeface="Segoe UI"/>
              </a:rPr>
              <a:t>cliff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(e.g. plan flip).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Symmetric ⇒ direction-free; we model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log 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(ratios are multiplicative).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Goal: estimate Y for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all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pairs after measuring only a few.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426464"/>
            <a:ext cx="518464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Segoe UI"/>
              </a:rPr>
              <a:t>symmetric ratio  (interpolation.py · symmetric_ratio)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1737360"/>
            <a:ext cx="5184648" cy="6309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F2A37"/>
                </a:solidFill>
                <a:latin typeface="Consolas"/>
              </a:rPr>
              <a:t>q(a,b) = max(rtₐ, rt_b) / min(rtₐ, rt_b)   ≥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F2A37"/>
                </a:solidFill>
                <a:latin typeface="Consolas"/>
              </a:rPr>
              <a:t>model space:  z = log q          q̂ = exp(ẑ) ≥ 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697480"/>
          <a:ext cx="5440676" cy="15727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19"/>
                <a:gridCol w="800099"/>
                <a:gridCol w="800099"/>
                <a:gridCol w="128015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pair (toy)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rtₐ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rt_b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q = max/min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10.0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13.2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22.0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14.5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45309"/>
                          </a:solidFill>
                          <a:latin typeface="Segoe UI"/>
                        </a:rPr>
                        <a:t>7.59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x2:2-&gt;3 @ x1=4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45309"/>
                          </a:solidFill>
                          <a:latin typeface="Segoe UI"/>
                        </a:rPr>
                        <a:t>7.38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0" y="4526280"/>
            <a:ext cx="5440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Segoe UI"/>
              </a:rPr>
              <a:t>Most pairs ≈ 1 (smooth); a few pairs are large (the interesting 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FOUNDATIONS · THE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From a 5×5 grid to 40 directed-axis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counting the pairs  ( 4×4 'resolution' = 4 gaps per row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10881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points          = N × N            = 5 × 5 = 25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axes            = 2  (x1, x2)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pairs / axis    = (N−1) × N        = 4 × 5 = 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TOTAL pairs  P  = 2·(N−1)·N        =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axis 0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 pairs step in x1:  (i,j)→(i+1,j)    — 20 pairs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axis 1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 pairs step in x2:  (i,j)→(i,j+1)    — 20 pairs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Built exactly as interpolation.py: for each point, look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+1 along each axis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Same construction scales: the real Q5 grid →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P = 220 pairs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554480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618488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67728" y="1737360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44968" y="1554480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7848" y="1618488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08976" y="1737360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86216" y="1554480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69096" y="1618488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50224" y="1737360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27464" y="1554480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10344" y="1618488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91472" y="1737360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68712" y="1554480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32720" y="1737360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2395728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459736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7728" y="2578608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44968" y="2395728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7848" y="2459736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08976" y="2578608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86216" y="2395728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69096" y="2459736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50224" y="2578608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27464" y="2395728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10344" y="2459736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91472" y="2578608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68712" y="2395728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32720" y="2578608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03720" y="3236976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86600" y="3300984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67728" y="3419856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44968" y="3236976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27848" y="3300984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08976" y="3419856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86216" y="3236976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69096" y="3300984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50224" y="3419856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427464" y="3236976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10344" y="3300984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91472" y="3419856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268712" y="3236976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32720" y="3419856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903720" y="4078224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142232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7728" y="4261104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44968" y="4078224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27848" y="4142232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08976" y="4261104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586216" y="4078224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69096" y="4142232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0224" y="4261104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427464" y="4078224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10344" y="4142232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4261104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268712" y="4078224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332720" y="4261104"/>
            <a:ext cx="17780" cy="658368"/>
          </a:xfrm>
          <a:prstGeom prst="rect">
            <a:avLst/>
          </a:prstGeom>
          <a:solidFill>
            <a:srgbClr val="6FB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903720" y="491947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86600" y="4983480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744968" y="491947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927848" y="4983480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586216" y="491947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69096" y="4983480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427464" y="491947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10344" y="4983480"/>
            <a:ext cx="658368" cy="177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0268712" y="4919472"/>
            <a:ext cx="182880" cy="182880"/>
          </a:xfrm>
          <a:prstGeom prst="roundRect">
            <a:avLst>
              <a:gd name="adj" fmla="val 6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03720" y="5779008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Segoe UI"/>
              </a:rPr>
              <a:t>●</a:t>
            </a:r>
            <a:r>
              <a:rPr sz="1100" b="0" i="0">
                <a:solidFill>
                  <a:srgbClr val="6B7280"/>
                </a:solidFill>
                <a:latin typeface="Segoe UI"/>
              </a:rPr>
              <a:t> grid point   </a:t>
            </a:r>
            <a:r>
              <a:rPr sz="1200" b="1" i="0">
                <a:solidFill>
                  <a:srgbClr val="0E7C86"/>
                </a:solidFill>
                <a:latin typeface="Segoe UI"/>
              </a:rPr>
              <a:t>—</a:t>
            </a:r>
            <a:r>
              <a:rPr sz="1100" b="0" i="0">
                <a:solidFill>
                  <a:srgbClr val="6B7280"/>
                </a:solidFill>
                <a:latin typeface="Segoe UI"/>
              </a:rPr>
              <a:t> axis-0 pair   </a:t>
            </a:r>
            <a:r>
              <a:rPr sz="1200" b="1" i="0">
                <a:solidFill>
                  <a:srgbClr val="6FB7BD"/>
                </a:solidFill>
                <a:latin typeface="Segoe UI"/>
              </a:rPr>
              <a:t>|</a:t>
            </a:r>
            <a:r>
              <a:rPr sz="1100" b="0" i="0">
                <a:solidFill>
                  <a:srgbClr val="6B7280"/>
                </a:solidFill>
                <a:latin typeface="Segoe UI"/>
              </a:rPr>
              <a:t> axis-1 pair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FOUNDATIONS · FEATURES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Feature X per pair, and the sampling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feature vector  ( what the GP / interpolator sees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9509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X = [ mid_x1 , mid_x2 ,  1[axis=0] , 1[axis=1] 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    └─ midpoint ─┘     └── one-hot axis ──┘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fdim = 2 (midpoint) + 2 (axes) =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93522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budget  ( interpolation.py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246120"/>
            <a:ext cx="5230368" cy="9509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MIN = max(5, fdim+2)           = max(5,6) =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B   = max( MIN , ⌈0.10 · P⌉ 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toy:  B = max(6, ⌈4⌉) = 6   →  we use 10*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0"/>
                </a:solidFill>
                <a:latin typeface="Segoe UI"/>
              </a:rPr>
              <a:t>*toy budget raised to 10/40 so the active loop is visible; production = 10% of P.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63640" y="1371600"/>
          <a:ext cx="5394958" cy="18836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62538"/>
                <a:gridCol w="757187"/>
                <a:gridCol w="3028749"/>
                <a:gridCol w="94648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pid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axis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X = [mid₁,mid₂,a₀,a₁]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Y=q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[1.5, 1.0, 1, 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[1.5, 3.0, 1, 0]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[1.5, 5.0, 1, 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[3.5, 3.0, 1, 0]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45309"/>
                          </a:solidFill>
                          <a:latin typeface="Segoe UI"/>
                        </a:rPr>
                        <a:t>7.59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[4.0, 2.5, 0, 1]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45309"/>
                          </a:solidFill>
                          <a:latin typeface="Segoe UI"/>
                        </a:rPr>
                        <a:t>7.38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63640" y="3310128"/>
            <a:ext cx="5394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Segoe UI"/>
              </a:rPr>
              <a:t>master pair table  ·  5 of P=40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033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All methods see </a:t>
            </a:r>
            <a:r>
              <a:rPr sz="1550" b="1" i="0">
                <a:solidFill>
                  <a:srgbClr val="B12A2A"/>
                </a:solidFill>
                <a:latin typeface="Segoe UI"/>
              </a:rPr>
              <a:t>only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the Y of pairs they sample.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Two ways to turn samples → full prediction: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interpolate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between samples (random, stride), or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fit a model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+ actively choose samples (GP / BO).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FOUNDATIONS · RICHER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What else could go into the feature X?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3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Today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X = midpoint + axis one-hot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— pure geometry.  Each pair's two endpoints already carry much more signal in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ground_truth.csv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— adding it lets the GP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smell a cliff before sampling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286000"/>
          <a:ext cx="11183110" cy="3072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4961"/>
                <a:gridCol w="4583242"/>
                <a:gridCol w="467490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signal group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columns (per endpoint, + Δ across the pair)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why it predicts the pair's q-error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Selectivity gap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selectivity_x*, joint_sel, dS_*, joint_dS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a big cardinality jump across the pair → runtime jump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Optimizer estimate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plan_rows, total_cost, startup_cost (+ ratio)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where the optimizer's own guess swings, q-error spikes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Plan structure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plan_change, node_count, max_depth, join/scan/hash/sort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a plan flip across the pair is the #1 cliff signal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Parallelism / IO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workers_planned/launched, shared_hit_ratio, temp_total_blocks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parallel kick-in or a spill changes runtime sharply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Pair geometry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raw value-gap width, boundary-vs-interior, axis (have)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wide gaps and grid boundaries are higher-risk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669280"/>
            <a:ext cx="11183112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12A2A"/>
                </a:solidFill>
                <a:latin typeface="Segoe UI"/>
              </a:rPr>
              <a:t>Rule: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only features knowable </a:t>
            </a:r>
            <a:r>
              <a:rPr sz="1600" b="1" i="0">
                <a:solidFill>
                  <a:srgbClr val="1F2A37"/>
                </a:solidFill>
                <a:latin typeface="Segoe UI"/>
              </a:rPr>
              <a:t>without running the pair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— EXPLAIN-derived (plan, cost, plan_rows) and cached selectivity are cheap &amp; legal; the pair's </a:t>
            </a:r>
            <a:r>
              <a:rPr sz="1600" b="1" i="0">
                <a:solidFill>
                  <a:srgbClr val="1F2A37"/>
                </a:solidFill>
                <a:latin typeface="Segoe UI"/>
              </a:rPr>
              <a:t>actual runtime / q-error must never leak.</a:t>
            </a:r>
            <a:r>
              <a:rPr sz="1600" b="0" i="0">
                <a:solidFill>
                  <a:srgbClr val="6B7280"/>
                </a:solidFill>
                <a:latin typeface="Segoe UI"/>
              </a:rPr>
              <a:t>   Standardize numerics (log for rows/cost), one-hot categoricals (root_node).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EVALUATION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How every method is scored — prediction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212080" cy="10515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495604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45309"/>
                </a:solidFill>
                <a:latin typeface="Segoe UI"/>
              </a:rPr>
              <a:t>the headline number  (evaluate_interpolation.py)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4956048" cy="6309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pred q-error:  Q = max( y/ŷ , ŷ/y )  ≥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ALL  = every pair      UNSEEN = only un-sampled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UNSEEN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is the real test — accuracy where we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did not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measure.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Ranking column = </a:t>
            </a:r>
            <a:r>
              <a:rPr sz="1300" b="1" i="0">
                <a:solidFill>
                  <a:srgbClr val="1F2A37"/>
                </a:solidFill>
                <a:latin typeface="Consolas"/>
              </a:rPr>
              <a:t>QERR_MEDIAN_UNSEEN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lower = predicted q-errors are closer to truth.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WITHIN_kX = % of pairs whose prediction is within k×.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1371600"/>
          <a:ext cx="5714998" cy="25054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46384"/>
                <a:gridCol w="3165230"/>
                <a:gridCol w="70338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formula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best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mean |y − ŷ|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√ mean(y − ŷ)²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1 − SS_res/SS_tot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MAPE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mean |y−ŷ|/y · 100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QERR_MEAN/MED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mean / median of Q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QERR_P90/P95/MAX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tail percentiles of Q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WITHIN_2X/5X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% ( Q ≤ 2 ) , % ( Q ≤ 5 )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EVALUATION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Discovery of bad pairs  &amp;  global smoothness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5532119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3010"/>
                <a:gridCol w="356910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discovery metric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max_qerr_found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largest true q among </a:t>
                      </a:r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sampled</a:t>
                      </a:r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 pairs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coverage_2x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% of pairs with q&gt;2 that were sampled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coverage_5x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% of pairs with q&gt;5 that were sampled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246120"/>
            <a:ext cx="5532120" cy="15544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300984"/>
            <a:ext cx="5276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5309"/>
                </a:solidFill>
                <a:latin typeface="Segoe UI"/>
              </a:rPr>
              <a:t>smoothness summaries  S  (estimate vs truth)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611880"/>
            <a:ext cx="5276088" cy="11338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S_max  = max  q           (worst pair)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S_avg  = mean q           (overall roughness)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S_topk = mean top-k q     (k = 10% of P, the tail)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RelErr = | est − true | / true ·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716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Two different jobs, scored separately: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0E7C86"/>
                </a:solidFill>
                <a:latin typeface="Segoe UI"/>
              </a:rPr>
              <a:t>interpolation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— be accurate on every pair (UNSEEN Q).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B45309"/>
                </a:solidFill>
                <a:latin typeface="Segoe UI"/>
              </a:rPr>
              <a:t>discovery / S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— find &amp; quantify the worst pairs.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 method can win one and lose the other:</a:t>
            </a:r>
          </a:p>
          <a:p>
            <a:pPr lvl="2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6B7280"/>
                </a:solidFill>
                <a:latin typeface="Segoe UI"/>
              </a:rPr>
              <a:t>·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pure-σ explores → great coverage, mediocre Q.</a:t>
            </a:r>
          </a:p>
          <a:p>
            <a:pPr lvl="2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6B7280"/>
                </a:solidFill>
                <a:latin typeface="Segoe UI"/>
              </a:rPr>
              <a:t>·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interpolators → smooth Q, miss the cliffs.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The closing Q5 slides report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both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families of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SHARED MACHINERY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Two predictors underneath every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A.  Linear interpolation  →  random, uniform_stride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11338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log q̂(X) = Σᵢ wᵢ · log qᵢ      (barycentric weights)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· linear inside the convex hull of samples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· nearest-neighbour fallback outside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q̂ = exp( log q̂ ) ≥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16382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B.  Matérn-5/2 Gaussian Process  →  gpr &amp; all 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474720"/>
            <a:ext cx="5230368" cy="23225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k(r) = (1 + √5·r/ℓ + 5r²/3ℓ²) · exp(−√5·r/ℓ)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        r = ‖Xᵢ − Xⱼ‖   (Matérn 5/2)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μ(X) = k*ᵀ K⁻¹ y                 (posterior mean)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σ²(X)= 1 + noise − k*ᵀ K⁻¹ k*    (posterior var)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A37"/>
                </a:solidFill>
                <a:latin typeface="Consolas"/>
              </a:rPr>
              <a:t>(ℓ, noise) by MLE · fit on log q · q̂ = exp(μ)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Interpolation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cheap, no uncertainty.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good when samples are dense &amp; spread.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GP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gives μ (best guess)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and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σ (uncertainty).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σ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is what lets a method </a:t>
            </a:r>
            <a:r>
              <a:rPr sz="1400" b="0" i="1">
                <a:solidFill>
                  <a:srgbClr val="1F2A37"/>
                </a:solidFill>
                <a:latin typeface="Segoe UI"/>
              </a:rPr>
              <a:t>choose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the next pair.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everything is done in log-q space, then exp().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Why log?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q-errors are ratios; log makes 2× and ½× symmetric.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Data-starved caveat: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on tiny seeds the MLE length-scale collapses → flat μ/σ. Real grids (P=220) behave well.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BO INTERNALS ·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The kernel: how similar are two pairs?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311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 kernel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k(r)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sets how strongly the q-errors at two pairs co-vary, given feature distance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r = ‖X − X'‖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  It decides how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smooth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the predicted surface is.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The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Matérn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family is indexed by ν — larger ν ⇒ smoother paths. 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ℓ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length-scale (how far one sample's influence reaches).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606040"/>
          <a:ext cx="11183110" cy="25968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8302"/>
                <a:gridCol w="4124918"/>
                <a:gridCol w="2383286"/>
                <a:gridCol w="311660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kernel (ν)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k(r)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smoothness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used in this code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Matérn ½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exp(−r/ℓ)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continuous, non-diff (rough)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OtterTune kernel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Matérn 3/2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(1 + √3·r/ℓ)·exp(−√3·r/ℓ)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1× differentiable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Matérn 5/2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(1 + √5·r/ℓ + 5r²/3ℓ²)·exp(−√5·r/ℓ)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2× differentiable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MaternGP — bo_*, smoothness_*, gpr_fixed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RBF / SE  (ν→∞)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exp(−r²/2ℓ²)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∞ differentiable (very smooth)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440680"/>
            <a:ext cx="11183112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Segoe UI"/>
              </a:rPr>
              <a:t>All Matérn-based methods here use </a:t>
            </a:r>
            <a:r>
              <a:rPr sz="1300" b="1" i="0">
                <a:solidFill>
                  <a:srgbClr val="B45309"/>
                </a:solidFill>
                <a:latin typeface="Consolas"/>
              </a:rPr>
              <a:t>ν = 5/2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— smooth enough for runtime surfaces, sharp enough to bend around a cliff.  </a:t>
            </a:r>
            <a:r>
              <a:rPr sz="1300" b="1" i="0">
                <a:solidFill>
                  <a:srgbClr val="1F2A37"/>
                </a:solidFill>
                <a:latin typeface="Consolas"/>
              </a:rPr>
              <a:t>OtterTune uses ν = ½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(the plain exponential kernel).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Why not RBF?  Its infinite smoothness over-smooths the sharp q-error cliffs we care about.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BO INTERNALS ·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Matérn-5/2 — the workhorse, and OtterTune's ν=½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Matérn 5/2  (MaternGP._k52)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11338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a = √5 · r / ℓ        r = ‖X − X'‖  (z-scored 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k(r) = ( 1 + a + a²/3 ) · e^(−a)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1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baseline correlation ·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a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linear ·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a²/3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quadratic term.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Two derivatives ⇒ models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curvature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but stays finite at a cliff — ideal for q-error surfaces.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ℓ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learned per-fit;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r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in standardized feature space so all axes are comparable.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Signal scaled to 1 (log-q is z-scored: ymean, ystd);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noise·I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added on the diagonal.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26464"/>
            <a:ext cx="51389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OtterTune  ν=½  (exponential)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737360"/>
            <a:ext cx="5138928" cy="11338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K = mag · e^(−‖ΔX‖/ℓ) + ridge · 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ℓ=2,  mag=1,  ridge=1   (fixed, NO MLE)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632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Same shape as Matérn ½: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e^(−r/ℓ)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Non-differentiable ⇒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rougher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paths; reacts fast to local jumps.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Hyper-parameters are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fixed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(ported from cmu-db/ottertune), not fit by MLE.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ridge·I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is the noise/jitter that keeps K invertible.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BO INTERNALS · 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Choosing (ℓ, noise) by marginal likelihood, then predicting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52303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marginal log-likelihood  (MaternGP._lml)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5230368" cy="18653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K = k(D; ℓ) + noise · I        (D = pair-distances)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log p(y|X) = −½ yᵀK⁻¹y           (data fit)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       − ½ ln|K|            (complexity)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       − (n/2) ln 2π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Grid-search </a:t>
            </a:r>
            <a:r>
              <a:rPr sz="1200" b="0" i="0">
                <a:solidFill>
                  <a:srgbClr val="1F2A37"/>
                </a:solidFill>
                <a:latin typeface="Consolas"/>
              </a:rPr>
              <a:t>ℓ ∈ logspace(−1, 1.3, 12)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,  </a:t>
            </a:r>
            <a:r>
              <a:rPr sz="1200" b="0" i="0">
                <a:solidFill>
                  <a:srgbClr val="1F2A37"/>
                </a:solidFill>
                <a:latin typeface="Consolas"/>
              </a:rPr>
              <a:t>noise ∈ {1e−6 … 1e−1}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Keep the (ℓ, noise) with the highest log-likelihood.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Cholesky factor of K for a stable solve (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yᵀK⁻¹y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, ln|K|).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26464"/>
            <a:ext cx="51389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posterior at a new pair X  (predict)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737360"/>
            <a:ext cx="5138928" cy="18653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μ(X)  = k*ᵀ K⁻¹ 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σ²(X) = k(X,X) + noise − k*ᵀ K⁻¹ k*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back-transform: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q̂ = exp( μ·ystd + ymean )  ≥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404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k*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kernel from X to every sampled pair.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μ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best guess (log-q);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σ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= uncertainty.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This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(μ, σ)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is the only input every acquisition needs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SHARED MACHINERY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The active-sampling loop — only the acquisition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720840" cy="22860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46480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generic active loop  (bo_generic / smoothness_* / ottertune)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464808" cy="18653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seed  ← LHS-maximin pairs        (space-filling, n=6)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while |sampled| &lt; BUDGET: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fit GP on sampled (X, log q)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μ, σ ← GP.predict(all pairs)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score ← ACQUISITION(μ, σ)   ◄ the ONE differing 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next  ← argmax score (un-sampled)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measure next ; add to sampled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463040"/>
            <a:ext cx="4251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LHS-maximin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a spread-out start so the GP isn't blind anywhere.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Passive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methods skip the loop — fixed seed, predict once.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Greedy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one pair per iteration, then refit.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A37"/>
                </a:solidFill>
                <a:latin typeface="Segoe UI"/>
              </a:rPr>
              <a:t>Acquisitions covered in this deck</a:t>
            </a:r>
            <a:r>
              <a:rPr sz="1350" b="0" i="0">
                <a:solidFill>
                  <a:srgbClr val="6B7280"/>
                </a:solidFill>
                <a:latin typeface="Segoe UI"/>
              </a:rPr>
              <a:t>   (the only thing that changes):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976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σ: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explore most-uncertain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42976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UCB: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μ + κσ  exploit + explore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4297680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EI: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expected gain vs best-so-far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64608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β-UCB: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growing β  (smoothness_max)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4864608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BQ: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represent the mean  (avg)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4864608"/>
            <a:ext cx="3611880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EI-τ: 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tail threshold  (topk)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BO INTERNALS · ACQUISITIONS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Every acquisition function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183109" cy="39136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67269"/>
                <a:gridCol w="4594611"/>
                <a:gridCol w="1473743"/>
                <a:gridCol w="294748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acquisition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formula  (maximise, unless noted)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goal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method(s)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σ  uncertainty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a = σ(X)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explore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bo_sigma, ottertune_reconstruct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UCB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a = μ + κ·σ        κ = 2 (fixed)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balance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bo_generic_ucb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a = (μ−f⁺)Φ(z) + σφ(z),  z=(μ−f⁺)/σ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beat best f⁺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GP-UCB  (adaptive)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a = μ + β_t·σ,  β_t=√(2 ln(P t²π²/6))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S_max (peak)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smoothness_max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Bayesian Quadrature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a = (Σ_q k*(q,p))² / σ*²(p)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S_avg (mean)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smoothness_avg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B45309"/>
                          </a:solidFill>
                          <a:latin typeface="Segoe UI"/>
                        </a:rPr>
                        <a:t>EI-threshold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a = (μ−τ_t)Φ(z)+σφ(z),  τ_t = k-th largest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S_topk (tail)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smoothness_topk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OtterTune GPRGD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minimise μ_mult·μ − β·σ  over continuous 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max / cover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ottertune_max / reconstruct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40680"/>
            <a:ext cx="11183112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A37"/>
                </a:solidFill>
                <a:latin typeface="Consolas"/>
              </a:rPr>
              <a:t>Φ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normal CDF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φ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normal PDF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f⁺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best q seen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τ_t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tail threshold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t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iteration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P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= #pairs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6B7280"/>
                </a:solidFill>
                <a:latin typeface="Segoe UI"/>
              </a:rPr>
              <a:t>Same GP posterior (μ, σ) feeds all of them — only this scoring rule changes which pair is sampled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METHODS ·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Eleven methods in four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1638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56241"/>
                <a:gridCol w="3335314"/>
                <a:gridCol w="1079072"/>
                <a:gridCol w="451248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family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methods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chooses
samples?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predictor / idea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Passive baselines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random , uniform_stride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12A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linear interpolation between fixed samples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Passive GP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gpr_fixed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B12A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one-shot Matérn GP on a uniform seed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Active · generic BO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bo_generic_sigma / ucb / 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56F3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Matérn GP + acquisition (σ / UCB / EI)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Active · OtterTune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ottertune_max / reconstruct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56F3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fixed-HP kernel + gradient search (GPRGD)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Active · smoothness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smoothness_max / avg / topk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56F3B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GP + acquisition tuned to S_max / S_avg / S_topk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12080"/>
            <a:ext cx="1118311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2A37"/>
                </a:solidFill>
                <a:latin typeface="Consolas"/>
              </a:rPr>
              <a:t>ground_truth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measures all P pairs — the baseline every method is scored against.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7280"/>
                </a:solidFill>
                <a:latin typeface="Segoe UI"/>
              </a:rPr>
              <a:t>Passive = predict once from a fixed sample set.   Active = repeat {fit → score → sample} until the budget is spent.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BASELINE 1 · RANDOM  (PASSIVE)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random — blind sample, then interpolate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Draw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B = 10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pair-ids uniformly at random.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Measure their q-errors.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Predict every pair by linear interpolation of log 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438144"/>
            <a:ext cx="51389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predictor — linear interpolation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749040"/>
            <a:ext cx="5138928" cy="4937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log q̂(X) = Σᵢ wᵢ · log qᵢ        q̂ = exp(·)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539496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12A2A"/>
                </a:solidFill>
                <a:latin typeface="Segoe UI"/>
              </a:rPr>
              <a:t>No targeting: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samples land mostly in the flat region;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F2A37"/>
                </a:solidFill>
                <a:latin typeface="Segoe UI"/>
              </a:rPr>
              <a:t>the cliff pairs are usually missed, so their q is predicted ≈ 1.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371600"/>
          <a:ext cx="5394959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7996"/>
                <a:gridCol w="2157984"/>
                <a:gridCol w="2074984"/>
                <a:gridCol w="6639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X = [mid₁,mid₂,a₀,a₁]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Y=q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x2:1-&gt;2 @ x1=1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[1.0,1.5,0,1]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x2:3-&gt;4 @ x1=1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[1.0,3.5,0,1]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[1.5,4.0,1,0]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[1.0,4.5,0,1]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6B7280"/>
                          </a:solidFill>
                          <a:latin typeface="Segoe UI"/>
                        </a:rPr>
                        <a:t>+6 more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63640" y="3127248"/>
            <a:ext cx="5394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0"/>
                </a:solidFill>
                <a:latin typeface="Segoe UI"/>
              </a:rPr>
              <a:t>sampled (4 of 10 shown)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63640" y="3474720"/>
          <a:ext cx="5394960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731520"/>
                <a:gridCol w="73152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unsampled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ŷ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Q=max(y/ŷ,ŷ/y)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Segoe UI"/>
                        </a:rPr>
                        <a:t>1.04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x2:2-&gt;3 @ x1=1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Segoe UI"/>
                        </a:rPr>
                        <a:t>1.01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12A2A"/>
                          </a:solidFill>
                          <a:latin typeface="Segoe UI"/>
                        </a:rPr>
                        <a:t>6.80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x2:2-&gt;3 @ x1=4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7.38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12A2A"/>
                          </a:solidFill>
                          <a:latin typeface="Segoe UI"/>
                        </a:rPr>
                        <a:t>6.92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Segoe UI"/>
                        </a:rPr>
                        <a:t>1.02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63640" y="5248656"/>
            <a:ext cx="5394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12A2A"/>
                </a:solidFill>
                <a:latin typeface="Segoe UI"/>
              </a:rPr>
              <a:t>cliff pairs 22 &amp; 30 (q≈7.5) predicted ≈ 1.1  →  Q ≈ 7  (a miss).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BASELINE 2 · UNIFORM_STRIDE  (PASSIVE)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uniform_stride — even cover, then interpolate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Take </a:t>
            </a:r>
            <a:r>
              <a:rPr sz="1550" b="1" i="0">
                <a:solidFill>
                  <a:srgbClr val="1F2A37"/>
                </a:solidFill>
                <a:latin typeface="Consolas"/>
              </a:rPr>
              <a:t>B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pair-ids evenly along the catalog: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300" b="0" i="0">
                <a:solidFill>
                  <a:srgbClr val="1F2A37"/>
                </a:solidFill>
                <a:latin typeface="Consolas"/>
              </a:rPr>
              <a:t>ids = round( linspace(0, P−1, B) 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Same linear-interpolation predictor as random.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Even in id-space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≠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even in feature-space: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bracketed cliffs are nailed (24), but the cliff </a:t>
            </a:r>
            <a:r>
              <a:rPr sz="1400" b="1" i="0">
                <a:solidFill>
                  <a:srgbClr val="B12A2A"/>
                </a:solidFill>
                <a:latin typeface="Segoe UI"/>
              </a:rPr>
              <a:t>smears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onto flat pairs (35, 33) and 22 is missed.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97680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4352544"/>
            <a:ext cx="51389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deterministic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4663440"/>
            <a:ext cx="5138928" cy="4480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ids = ⌊ linspace(0, P−1, B) ⌋   (deduped)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1371600"/>
          <a:ext cx="5394959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7996"/>
                <a:gridCol w="2157984"/>
                <a:gridCol w="2074984"/>
                <a:gridCol w="6639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X = [mid₁,mid₂,a₀,a₁]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Y=q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[1.5,1.0,1,0]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[1.5,3.0,1,0]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[1.5,5.0,1,0]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[2.5,3.0,1,0]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6B7280"/>
                          </a:solidFill>
                          <a:latin typeface="Segoe UI"/>
                        </a:rPr>
                        <a:t>+6 more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3127248"/>
            <a:ext cx="5394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0"/>
                </a:solidFill>
                <a:latin typeface="Segoe UI"/>
              </a:rPr>
              <a:t>sampled (4 of 10 shown) — by luck includes cliff pairs 26, 30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63640" y="3474720"/>
          <a:ext cx="5394960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731520"/>
                <a:gridCol w="73152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unsampled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ŷ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Q=max(y/ŷ,ŷ/y)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7.61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7.64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7.59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12A2A"/>
                          </a:solidFill>
                          <a:latin typeface="Segoe UI"/>
                        </a:rPr>
                        <a:t>6.80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7.64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12A2A"/>
                          </a:solidFill>
                          <a:latin typeface="Segoe UI"/>
                        </a:rPr>
                        <a:t>7.07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7.64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B12A2A"/>
                          </a:solidFill>
                          <a:latin typeface="Segoe UI"/>
                        </a:rPr>
                        <a:t>7.04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1.58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56F3B"/>
                          </a:solidFill>
                          <a:latin typeface="Segoe UI"/>
                        </a:rPr>
                        <a:t>1.05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63640" y="5248656"/>
            <a:ext cx="53949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56F3B"/>
                </a:solidFill>
                <a:latin typeface="Segoe UI"/>
              </a:rPr>
              <a:t>24 nailed (bracketed); </a:t>
            </a:r>
            <a:r>
              <a:rPr sz="1150" b="0" i="0">
                <a:solidFill>
                  <a:srgbClr val="B12A2A"/>
                </a:solidFill>
                <a:latin typeface="Segoe UI"/>
              </a:rPr>
              <a:t>35 &amp; 33 are false alarms (1.1 → 7.6); </a:t>
            </a:r>
            <a:r>
              <a:rPr sz="1150" b="0" i="0">
                <a:solidFill>
                  <a:srgbClr val="B12A2A"/>
                </a:solidFill>
                <a:latin typeface="Segoe UI"/>
              </a:rPr>
              <a:t>22 still missed.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BASELINE 3 · GPR_FIXED  (PASSIVE GP)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gpr_fixed — one-shot Matérn GP on the stride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Seed = uniform_stride pairs (</a:t>
            </a:r>
            <a:r>
              <a:rPr sz="1550" b="1" i="0">
                <a:solidFill>
                  <a:srgbClr val="B12A2A"/>
                </a:solidFill>
                <a:latin typeface="Segoe UI"/>
              </a:rPr>
              <a:t>no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active picks).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Fit Matérn-5/2 GP on (X, log q); predict all pairs once.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Gives μ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and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σ, but never uses σ to sample more.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438144"/>
            <a:ext cx="513892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posterior (predict once)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749040"/>
            <a:ext cx="5138928" cy="9966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μ(X) = k*ᵀ K⁻¹ y          q̂ = exp(μ)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σ²(X)= 1 + noise − k*ᵀ K⁻¹ k*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39496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5309"/>
                </a:solidFill>
                <a:latin typeface="Segoe UI"/>
              </a:rPr>
              <a:t>Data-starved toy: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10 seeds → the MLE length-scale collapses (ℓ→0.1), so the GP returns the </a:t>
            </a:r>
            <a:r>
              <a:rPr sz="1600" b="1" i="0">
                <a:solidFill>
                  <a:srgbClr val="1F2A37"/>
                </a:solidFill>
                <a:latin typeface="Segoe UI"/>
              </a:rPr>
              <a:t>global mean q̂≈1.71</a:t>
            </a:r>
            <a:r>
              <a:rPr sz="1600" b="0" i="0">
                <a:solidFill>
                  <a:srgbClr val="1F2A37"/>
                </a:solidFill>
                <a:latin typeface="Segoe UI"/>
              </a:rPr>
              <a:t> with high σ everywhere.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B7280"/>
                </a:solidFill>
                <a:latin typeface="Segoe UI"/>
              </a:rPr>
              <a:t>On the real P=220 grid it is well-conditioned (closing slides: Q̃=1.15).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371600"/>
          <a:ext cx="539495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46584"/>
                <a:gridCol w="814333"/>
                <a:gridCol w="1017916"/>
                <a:gridCol w="91612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unsampled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q̂=eᵘ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7.61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7.59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1.71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x2:1-&gt;2 @ x1=1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1.71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1.58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63640" y="3154680"/>
            <a:ext cx="539496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Segoe UI"/>
              </a:rPr>
              <a:t>true q swings 1.1→7.6, but q̂ is flat at 1.71 + high σ: the GP says </a:t>
            </a:r>
            <a:r>
              <a:rPr sz="1150" b="1" i="1">
                <a:solidFill>
                  <a:srgbClr val="1F2A37"/>
                </a:solidFill>
                <a:latin typeface="Segoe UI"/>
              </a:rPr>
              <a:t>'unsure'</a:t>
            </a:r>
            <a:r>
              <a:rPr sz="1150" b="0" i="1">
                <a:solidFill>
                  <a:srgbClr val="6B7280"/>
                </a:solidFill>
                <a:latin typeface="Segoe UI"/>
              </a:rPr>
              <a:t> — yet, passive, it cannot resample.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Active methods (next) turn that σ into the next sample.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ACTIVE · GENERIC 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bo_generic — shared loop, one decision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Seed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6 LHS-maximin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pairs → fit Matérn GP.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Score all unsampled pairs by an acquisition of (μ, σ).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Sample argmax, refit, repeat to B=10  (</a:t>
            </a:r>
            <a:r>
              <a:rPr sz="1550" b="1" i="0">
                <a:solidFill>
                  <a:srgbClr val="0E7C86"/>
                </a:solidFill>
                <a:latin typeface="Segoe UI"/>
              </a:rPr>
              <a:t>σ / UCB / EI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differ only here).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246120"/>
          <a:ext cx="5349240" cy="1975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"/>
                <a:gridCol w="2139696"/>
                <a:gridCol w="2057400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X = [mid₁,mid₂,a₀,a₁]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Y=q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[3.0,4.5,0,1]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x2:1-&gt;2 @ x1=2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[2.0,1.5,0,1]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[4.5,2.0,1,0]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x2:3-&gt;4 @ x1=4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[4.0,3.5,0,1]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[2.5,4.0,1,0]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x2:2-&gt;3 @ x1=1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[1.0,2.5,0,1]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285232"/>
            <a:ext cx="5349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0"/>
                </a:solidFill>
                <a:latin typeface="Segoe UI"/>
              </a:rPr>
              <a:t>LHS seed for bo_generic_sigma (each variant reseeds)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1371600"/>
          <a:ext cx="5303519" cy="18836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5962"/>
                <a:gridCol w="2703755"/>
                <a:gridCol w="727934"/>
                <a:gridCol w="727934"/>
                <a:gridCol w="72793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candidate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q̂=eᵘ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μ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55080" y="3246120"/>
            <a:ext cx="53035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Segoe UI"/>
              </a:rPr>
              <a:t>a representative posterior — the next 3 slides apply σ / UCB / EI to </a:t>
            </a:r>
            <a:r>
              <a:rPr sz="1150" b="1" i="1">
                <a:solidFill>
                  <a:srgbClr val="1F2A37"/>
                </a:solidFill>
                <a:latin typeface="Segoe UI"/>
              </a:rPr>
              <a:t>these same μ,σ.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947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B45309"/>
                </a:solidFill>
                <a:latin typeface="Segoe UI"/>
              </a:rPr>
              <a:t>A,B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sit on the cliff (high q): high μ.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E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is a far, unsampled low corner: high σ, low μ.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D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sits among samples: low μ, low 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ACTIVE BO · 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bo_generic_sigma — sample where the GP is least 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58000" cy="7315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6019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60196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F2A37"/>
                </a:solidFill>
                <a:latin typeface="Consolas"/>
              </a:rPr>
              <a:t>acq(X) = σ(X)            next = argmax 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86000"/>
          <a:ext cx="6857998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836"/>
                <a:gridCol w="3219061"/>
                <a:gridCol w="839755"/>
                <a:gridCol w="839755"/>
                <a:gridCol w="139959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q̂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μ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σ = acq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4.95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2286000"/>
            <a:ext cx="402336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picks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E  (max σ = 0.95)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788920"/>
            <a:ext cx="4069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pure exploration: ignores μ entirely.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B12A2A"/>
                </a:solidFill>
                <a:latin typeface="Segoe UI"/>
              </a:rPr>
              <a:t>can 'waste' budget on uncertain-but-flat corners (E).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great coverage, not focused on the worst pairs.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416052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x2:1-&gt;2 @ x1=5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98932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μ,σ = representative GP posterior (log-q) over 5 toy pairs; exact acquisition formulas.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ACTIVE BO · UCB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bo_generic_ucb — balance high guess and high doubt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58000" cy="7315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6019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acquisition  (upper confidence bound)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601968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F2A37"/>
                </a:solidFill>
                <a:latin typeface="Consolas"/>
              </a:rPr>
              <a:t>acq(X) = μ(X) + κ·σ(X)        κ = 2   (fixed)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286000"/>
          <a:ext cx="6857996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64949"/>
                <a:gridCol w="2673457"/>
                <a:gridCol w="697423"/>
                <a:gridCol w="697423"/>
                <a:gridCol w="1162372"/>
                <a:gridCol w="116237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q̂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μ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μ+κσ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4.95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2.40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2.90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0.26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2286000"/>
            <a:ext cx="402336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picks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B  (μ+2σ = 2.90)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788920"/>
            <a:ext cx="4069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exploit (μ) + explore (σ) in one score.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prefers the </a:t>
            </a:r>
            <a:r>
              <a:rPr sz="1400" b="1" i="0">
                <a:solidFill>
                  <a:srgbClr val="1F2A37"/>
                </a:solidFill>
                <a:latin typeface="Segoe UI"/>
              </a:rPr>
              <a:t>uncertain end of the cliff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(B) over flat E.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κ fixed → constant explore/exploit mix.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416052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1.33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98932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μ,σ = representative GP posterior (log-q) over 5 toy pairs; exact acquisition formulas.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ACTIVE BO · 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bo_generic_ei — expected gain over the best-so-far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6019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acquisition  (expected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601968" cy="95097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f⁺ = max observed log-q       z = (μ − f⁺)/σ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EI = (μ − f⁺)·Φ(z) + σ·φ(z)     Φ=CDF  φ=PDF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880360"/>
          <a:ext cx="6857997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7565"/>
                <a:gridCol w="2285999"/>
                <a:gridCol w="596347"/>
                <a:gridCol w="596347"/>
                <a:gridCol w="993913"/>
                <a:gridCol w="993913"/>
                <a:gridCol w="99391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q̂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μ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z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EI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4.95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0.88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0.392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-0.06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0.315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-2.00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0.003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-14.37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-1.25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0.048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800600"/>
            <a:ext cx="68580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(μ−f⁺)·Φ(z)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= gain × its probability;   </a:t>
            </a:r>
            <a:r>
              <a:rPr sz="1300" b="0" i="0">
                <a:solidFill>
                  <a:srgbClr val="1F2A37"/>
                </a:solidFill>
                <a:latin typeface="Consolas"/>
              </a:rPr>
              <a:t>σ·φ(z)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 = frontier-uncertainty bonus.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F2A37"/>
                </a:solidFill>
                <a:latin typeface="Segoe UI"/>
              </a:rPr>
              <a:t>here f⁺ = </a:t>
            </a:r>
            <a:r>
              <a:rPr sz="1300" b="1" i="0">
                <a:solidFill>
                  <a:srgbClr val="1F2A37"/>
                </a:solidFill>
                <a:latin typeface="Consolas"/>
              </a:rPr>
              <a:t>1.25</a:t>
            </a:r>
            <a:r>
              <a:rPr sz="1300" b="0" i="0">
                <a:solidFill>
                  <a:srgbClr val="1F2A37"/>
                </a:solidFill>
                <a:latin typeface="Segoe UI"/>
              </a:rPr>
              <a:t>;  A (high μ, modest σ) gives the largest EI.   </a:t>
            </a:r>
            <a:r>
              <a:rPr sz="1050" b="0" i="1">
                <a:solidFill>
                  <a:srgbClr val="6B7280"/>
                </a:solidFill>
                <a:latin typeface="Segoe UI"/>
              </a:rPr>
              <a:t>μ,σ = representative GP posterior (log-q) over 5 toy pairs; exact acquisition formulas.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71600"/>
            <a:ext cx="406908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picks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A  (EI = 0.392)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192024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1.33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635240" y="3657600"/>
            <a:ext cx="4069080" cy="4572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EI finds the cliff at pick 1 (pair 26).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251960"/>
            <a:ext cx="406908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F2A37"/>
                </a:solidFill>
                <a:latin typeface="Segoe UI"/>
              </a:rPr>
              <a:t>same posterior, 3 verdicts: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E7C86"/>
                </a:solidFill>
                <a:latin typeface="Consolas"/>
              </a:rPr>
              <a:t>σ → E</a:t>
            </a:r>
            <a:r>
              <a:rPr sz="1300" b="0" i="0">
                <a:solidFill>
                  <a:srgbClr val="6B7280"/>
                </a:solidFill>
                <a:latin typeface="Segoe UI"/>
              </a:rPr>
              <a:t>   explore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E7C86"/>
                </a:solidFill>
                <a:latin typeface="Consolas"/>
              </a:rPr>
              <a:t>UCB → B</a:t>
            </a:r>
            <a:r>
              <a:rPr sz="1300" b="0" i="0">
                <a:solidFill>
                  <a:srgbClr val="6B7280"/>
                </a:solidFill>
                <a:latin typeface="Segoe UI"/>
              </a:rPr>
              <a:t>   balance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0E7C86"/>
                </a:solidFill>
                <a:latin typeface="Consolas"/>
              </a:rPr>
              <a:t>EI → A</a:t>
            </a:r>
            <a:r>
              <a:rPr sz="1300" b="0" i="0">
                <a:solidFill>
                  <a:srgbClr val="6B7280"/>
                </a:solidFill>
                <a:latin typeface="Segoe UI"/>
              </a:rPr>
              <a:t>   exploit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ACTIVE · OTTERTUNE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ottertune — fixed-kernel GP + gradient search (GPRGD)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12280" cy="2148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55624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exact OtterTune kernel &amp; acquisition  (cmu-db/ottertune)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556248" cy="17282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K(X,X') = mag·exp(−‖ΔX‖/ℓ) + ridge·I     (fixed HPs)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        ℓ=2,  mag=1,  ridge=1   —  NO MLE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loss  L(x) = mu_mult·μ(x) − β·σ(x)        β grows with 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β = UCB_SCALE·√(2·ln(d·t²·π²/6))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6812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Seed =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LHS bootstrap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pairs; standardize X &amp; log q each round.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Minimize L over 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continuous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x by Adam (GPRGD), from many random + best-seen starts.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Snap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the optimum to the nearest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un-sampled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 → sample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65760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Consolas"/>
              </a:rPr>
              <a:t>mu_mult = 1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→ hunt high q  (</a:t>
            </a:r>
            <a:r>
              <a:rPr sz="1400" b="0" i="0">
                <a:solidFill>
                  <a:srgbClr val="1F2A37"/>
                </a:solidFill>
                <a:latin typeface="Consolas"/>
              </a:rPr>
              <a:t>ottertune_max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)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1" i="0">
                <a:solidFill>
                  <a:srgbClr val="1F2A37"/>
                </a:solidFill>
                <a:latin typeface="Consolas"/>
              </a:rPr>
              <a:t>mu_mult = 0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 → pure σ  (</a:t>
            </a:r>
            <a:r>
              <a:rPr sz="1400" b="0" i="0">
                <a:solidFill>
                  <a:srgbClr val="1F2A37"/>
                </a:solidFill>
                <a:latin typeface="Consolas"/>
              </a:rPr>
              <a:t>ottertune_reconstruct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)</a:t>
            </a:r>
          </a:p>
          <a:p>
            <a:pPr lvl="2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6B7280"/>
                </a:solidFill>
                <a:latin typeface="Segoe UI"/>
              </a:rPr>
              <a:t>·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continuous search ≠ scoring each pair; that's the key difference from bo_generic.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417320"/>
            <a:ext cx="4114800" cy="4572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β at iter 1 (toy) = </a:t>
            </a:r>
            <a:r>
              <a:rPr sz="1250" b="0" i="0">
                <a:solidFill>
                  <a:srgbClr val="FFFFFF"/>
                </a:solidFill>
                <a:latin typeface="Consolas"/>
              </a:rPr>
              <a:t>0.388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89520" y="2011680"/>
          <a:ext cx="4114800" cy="1499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71800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uncertain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σ(otter)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1.29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1.28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1.30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1.37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OTTERTUNE ·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ottertune_max — chase the single worst 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12280" cy="1005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55624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mu_mult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556248" cy="5852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minimize  L(x) = (1)·μ(x) − β·σ(x)   on  −log q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  ⇒ search is pulled to high-q AND uncertain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6812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Goal: maximise max_qerr_found — discover the biggest cliff.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Each round it descends toward the highest predicted q, then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samples the nearest real pair.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On the toy it locks onto the cliff: pick 3 = pair 24 (</a:t>
            </a:r>
            <a:r>
              <a:rPr sz="1550" b="1" i="0">
                <a:solidFill>
                  <a:srgbClr val="B45309"/>
                </a:solidFill>
                <a:latin typeface="Segoe UI"/>
              </a:rPr>
              <a:t>q = 7.61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71600"/>
            <a:ext cx="406908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best toy find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pair 24 · q = 7.61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192024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7.61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635240" y="3703320"/>
            <a:ext cx="4069080" cy="64008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Strong on S_max / coverage, weaker on average accuracy.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OTTERTUNE · RECONSTRUCT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ottertune_reconstruct — pure uncertainty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12280" cy="1005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55624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mu_mult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556248" cy="5852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minimize  L(x) = (0)·μ(x) − β·σ(x)  =  −β·σ(x)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  ⇒ ignore μ, just maximise σ  (cover the space)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6812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Goal: reconstruct the whole surface, not just its peak.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Behaves like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bo_generic_sigma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, but with OtterTune's fixed kernel + GPRGD.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Spreads samples for coverage → better average fit, may under-find the max.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71600"/>
            <a:ext cx="406908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strategy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spread, not peak-seek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35240" y="192024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635240" y="3703320"/>
            <a:ext cx="4069080" cy="64008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max vs reconstruct = same kernel, opposite goal (μ_mult).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ACTIVE · SMOOTHNESS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smoothness_* — one acquisition per target statistic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09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83477"/>
                <a:gridCol w="2651665"/>
                <a:gridCol w="3228114"/>
                <a:gridCol w="391985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estimate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definition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acquisition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intuition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Consolas"/>
                        </a:rPr>
                        <a:t>S_max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max q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GP-UCB, β_t ↑ with 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concentrate on the peak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Consolas"/>
                        </a:rPr>
                        <a:t>S_avg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mean q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Bayesian Quadrature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represent the whole mean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F2A37"/>
                          </a:solidFill>
                          <a:latin typeface="Consolas"/>
                        </a:rPr>
                        <a:t>S_topk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Consolas"/>
                        </a:rPr>
                        <a:t>mean of top-10% q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EI over threshold τ_t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concentrate on the tail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383280"/>
            <a:ext cx="111831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All three seed with 6 LHS pairs and a Matérn GP — only the </a:t>
            </a:r>
            <a:r>
              <a:rPr sz="1550" b="1" i="0">
                <a:solidFill>
                  <a:srgbClr val="1F2A37"/>
                </a:solidFill>
                <a:latin typeface="Segoe UI"/>
              </a:rPr>
              <a:t>acquisition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differs (like bo_generic).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B45309"/>
                </a:solidFill>
                <a:latin typeface="Consolas"/>
              </a:rPr>
              <a:t>smoothness_max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vs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bo_generic_ucb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β grows with t (theory-driven) instead of a fixed κ — explores early, exploits late.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B45309"/>
                </a:solidFill>
                <a:latin typeface="Consolas"/>
              </a:rPr>
              <a:t>smoothness_avg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vs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σ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picks the most </a:t>
            </a:r>
            <a:r>
              <a:rPr sz="1550" b="0" i="1">
                <a:solidFill>
                  <a:srgbClr val="1F2A37"/>
                </a:solidFill>
                <a:latin typeface="Segoe UI"/>
              </a:rPr>
              <a:t>representative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pair (lowest mean-variance), not the most uncertain one.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550" b="0" i="0">
                <a:solidFill>
                  <a:srgbClr val="B45309"/>
                </a:solidFill>
                <a:latin typeface="Consolas"/>
              </a:rPr>
              <a:t>smoothness_topk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 vs </a:t>
            </a:r>
            <a:r>
              <a:rPr sz="1550" b="0" i="0">
                <a:solidFill>
                  <a:srgbClr val="1F2A37"/>
                </a:solidFill>
                <a:latin typeface="Consolas"/>
              </a:rPr>
              <a:t>EI</a:t>
            </a:r>
            <a:r>
              <a:rPr sz="1550" b="0" i="0">
                <a:solidFill>
                  <a:srgbClr val="1F2A37"/>
                </a:solidFill>
                <a:latin typeface="Segoe UI"/>
              </a:rPr>
              <a:t>: threshold τ_t = k-th largest observed (the tail), not the single best f⁺.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SMOOTHNESS ·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smoothness_max — GP-UCB with a growing 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6019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acquisition  ( adaptive β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601968" cy="6766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acq(X) = μ(X) + β_t·σ(X)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F2A37"/>
                </a:solidFill>
                <a:latin typeface="Consolas"/>
              </a:rPr>
              <a:t>β_t = √( 2·ln( P·t²·π²/6 ) )      (Srinivas 2010)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606040"/>
          <a:ext cx="6857996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64949"/>
                <a:gridCol w="2673457"/>
                <a:gridCol w="697423"/>
                <a:gridCol w="697423"/>
                <a:gridCol w="1162372"/>
                <a:gridCol w="116237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q̂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μ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μ+β·σ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4.95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3.20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A37"/>
                          </a:solidFill>
                          <a:latin typeface="Segoe UI"/>
                        </a:rPr>
                        <a:t>4.60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2.05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0.42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7C86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A37"/>
                          </a:solidFill>
                          <a:latin typeface="Segoe UI"/>
                        </a:rPr>
                        <a:t>3.86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526280"/>
            <a:ext cx="6858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Segoe UI"/>
              </a:rPr>
              <a:t>β_t ≈ 4.0 at this iteration  (vs fixed κ=2 in UCB)  →  σ weighs more, exploration stays alive.  </a:t>
            </a:r>
            <a:r>
              <a:rPr sz="1050" b="0" i="1">
                <a:solidFill>
                  <a:srgbClr val="6B7280"/>
                </a:solidFill>
                <a:latin typeface="Segoe UI"/>
              </a:rPr>
              <a:t>μ,σ = representative GP posterior (log-q) over 5 toy pairs; exact acquisition formulas.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71600"/>
            <a:ext cx="406908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picks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B  (μ+β·σ = 4.60)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192024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x1:4-&gt;5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1.33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7.61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7.59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635240" y="3703320"/>
            <a:ext cx="4069080" cy="50292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Finds cliff pairs 24 &amp; 22 by picks 3–4.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SMOOTHNESS ·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smoothness_avg — Bayesian Quadrature for the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58000" cy="14630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6019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7C86"/>
                </a:solidFill>
                <a:latin typeface="Segoe UI"/>
              </a:rPr>
              <a:t>acquisition  ( minimise variance of the mean estimate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601968" cy="10424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acq(p) = ( Σ_q k*(q,p) )² / σ*²(p)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k*(q,p) = posterior cross-cov of pair q &amp; candidate 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A37"/>
                </a:solidFill>
                <a:latin typeface="Consolas"/>
              </a:rPr>
              <a:t>  σ*²(p)  = posterior variance at 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71800"/>
          <a:ext cx="6857998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22169"/>
                <a:gridCol w="1394847"/>
                <a:gridCol w="1278610"/>
                <a:gridCol w="116237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candidate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Σ k*(q,p)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σ*²(p)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marL="54864" marR="36576" marT="18288" marB="18288" anchor="ctr">
                    <a:solidFill>
                      <a:srgbClr val="B4530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x2:3-&gt;4 @ x1=2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2.65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0.311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22.6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x2:3-&gt;4 @ x1=1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3.09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0.441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21.7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21.5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0.544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20.3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A37"/>
                          </a:solidFill>
                          <a:latin typeface="Consolas"/>
                        </a:rPr>
                        <a:t>x2:2-&gt;3 @ x1=2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1.81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0.171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19.1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35240" y="1371600"/>
            <a:ext cx="406908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picks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central pair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788920"/>
            <a:ext cx="4069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Consolas"/>
              </a:rPr>
              <a:t>high Σk*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: correlated with many pairs (central).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Consolas"/>
              </a:rPr>
              <a:t>÷σ*²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: discount what we're already unsure about.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7C86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1F2A37"/>
                </a:solidFill>
                <a:latin typeface="Segoe UI"/>
              </a:rPr>
              <a:t>picks the most representative pair, not the most extreme.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452628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x2:3-&gt;4 @ x1=2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1.07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x1:2-&gt;3 @ x2=1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x2:2-&gt;3 @ x1=4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B45309"/>
                          </a:solidFill>
                          <a:latin typeface="Segoe UI"/>
                        </a:rPr>
                        <a:t>7.38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94360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real toy computation (non-degenerate: OtterTune-style kernel sums).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SMOOTHNESS · TOPK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smoothness_topk — EI over an adaptive tail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6858000" cy="14173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 w="12700">
            <a:solidFill>
              <a:srgbClr val="E8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26464"/>
            <a:ext cx="660196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acquisition  ( EI aimed at the top-k tail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37360"/>
            <a:ext cx="6601968" cy="9966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τ_t = k-th largest observed log-q   (k = 10% of P)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z = (μ − τ_t)/σ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1F2A37"/>
                </a:solidFill>
                <a:latin typeface="Consolas"/>
              </a:rPr>
              <a:t>acq(X) = (μ − τ_t)·Φ(z) + σ·φ(z)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26080"/>
          <a:ext cx="6857997" cy="1837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7565"/>
                <a:gridCol w="2285999"/>
                <a:gridCol w="596347"/>
                <a:gridCol w="596347"/>
                <a:gridCol w="993913"/>
                <a:gridCol w="993913"/>
                <a:gridCol w="993913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q̂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μ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z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EI_τ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4.95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0.50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F2A37"/>
                          </a:solidFill>
                          <a:latin typeface="Segoe UI"/>
                        </a:rPr>
                        <a:t>0.279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x1:3-&gt;4 @ x2=5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3.32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-0.24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0.248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-2.37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-16.25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0.000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7C86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A37"/>
                          </a:solidFill>
                          <a:latin typeface="Consolas"/>
                        </a:rPr>
                        <a:t>x2:4-&gt;5 @ x1=5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1.06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-1.41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A37"/>
                          </a:solidFill>
                          <a:latin typeface="Segoe UI"/>
                        </a:rPr>
                        <a:t>0.034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846320"/>
            <a:ext cx="6858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A37"/>
                </a:solidFill>
                <a:latin typeface="Segoe UI"/>
              </a:rPr>
              <a:t>τ = 1.40 (the tail floor).  Like EI, but the bar is the top-k tail, not the single best.  </a:t>
            </a:r>
            <a:r>
              <a:rPr sz="1050" b="0" i="1">
                <a:solidFill>
                  <a:srgbClr val="6B7280"/>
                </a:solidFill>
                <a:latin typeface="Segoe UI"/>
              </a:rPr>
              <a:t>μ,σ = representative GP posterior (log-q) over 5 toy pairs; exact acquisition formulas.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71600"/>
            <a:ext cx="4069080" cy="347472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picks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A  (EI_τ = 0.279)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1920240"/>
          <a:ext cx="4069078" cy="1700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6217"/>
                <a:gridCol w="2034540"/>
                <a:gridCol w="528980"/>
                <a:gridCol w="651052"/>
                <a:gridCol w="48828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picked pair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q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used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left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1">
                          <a:solidFill>
                            <a:srgbClr val="1F2A37"/>
                          </a:solidFill>
                          <a:latin typeface="Segoe UI"/>
                        </a:rPr>
                        <a:t>LHS seed ×6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6/10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7/10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8/10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9/10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Consolas"/>
                        </a:rPr>
                        <a:t>x1:1-&gt;2 @ x2=5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F2A37"/>
                          </a:solidFill>
                          <a:latin typeface="Segoe UI"/>
                        </a:rPr>
                        <a:t>1.67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10/10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635240" y="3703320"/>
            <a:ext cx="4069080" cy="64008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Aims at the whole tail → best for estimating S_topk.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Q5 RESULTS · S1Q2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Parallelism ON (s1q2): who wins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7315194" cy="33969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341"/>
                <a:gridCol w="2039389"/>
                <a:gridCol w="620683"/>
                <a:gridCol w="620683"/>
                <a:gridCol w="532014"/>
                <a:gridCol w="620683"/>
                <a:gridCol w="620683"/>
                <a:gridCol w="532014"/>
                <a:gridCol w="709352"/>
                <a:gridCol w="70935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Q̃ᵤ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P90ᵤ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W5X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R²ᵤ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maxF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c5x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Savg%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Stk%</a:t>
                      </a:r>
                    </a:p>
                  </a:txBody>
                  <a:tcPr marL="54864" marR="36576" marT="18288" marB="18288" anchor="ctr">
                    <a:solidFill>
                      <a:srgbClr val="0E7C86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smoothness_avg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1.09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2.33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0.02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smoothness_max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2.17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0.58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bo_generic_sigma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2.17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0.60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24.3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random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2.84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5.2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uniform_stride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3.49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4.6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gpr_fixed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1.26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4.6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bo_generic_ucb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2.16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-2.37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ottertune_max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1.50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4.6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78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ottertune_reconstruct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2.93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0.18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bo_generic_ei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2.42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2.99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-4.86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smoothness_topk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3.29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-8.56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25.2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029200"/>
            <a:ext cx="73152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onsolas"/>
              </a:rPr>
              <a:t>Q̃ᵤ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=median pred-q (unseen, ↓)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P90ᵤ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=90th pct (↓)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W5X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=%within 5× (↑)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R²ᵤ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(↑)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onsolas"/>
              </a:rPr>
              <a:t>maxF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=max q found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c5x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=%of q&gt;5 sampled (↑)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Savg%/Stk%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=rel-err of S_avg / S_topk (↓)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grid m0 (data-space uniform) · P=220 pairs · budget=22 (10%) · max true q = 25.2×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325880"/>
            <a:ext cx="3794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BEST METHOD PER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6916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  Q̃↓: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smoothness_avg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1488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fit  R²↑: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bo_generic_sigma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6060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worst-case  cov5x↑: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smoothness_topk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0632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S_avg  err↓: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ottertune_reconstruct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5204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S_topk  err↓: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smoothness_topk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11480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0E7C86"/>
                </a:solidFill>
                <a:latin typeface="Consolas"/>
              </a:rPr>
              <a:t>bo_generic_sigma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: best all-rounder (R²=0.60, top-3 Q̃).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1F2A37"/>
                </a:solidFill>
                <a:latin typeface="Consolas"/>
              </a:rPr>
              <a:t>smoothness_topk / bo_ucb / bo_ei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: own the worst-case (cov5x ≥ 90%).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1F2A37"/>
                </a:solidFill>
                <a:latin typeface="Consolas"/>
              </a:rPr>
              <a:t>smoothness_avg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: lowest median error here.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B12A2A"/>
                </a:solidFill>
                <a:latin typeface="Segoe UI"/>
              </a:rPr>
              <a:t>Interpolators are fine on Q̃ but blind to cliffs (cov5x→0).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12A2A"/>
                </a:solidFill>
                <a:latin typeface="Segoe UI"/>
              </a:rPr>
              <a:t>Q5 RESULTS · S1Q0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F2A37"/>
                </a:solidFill>
                <a:latin typeface="Segoe UI"/>
              </a:rPr>
              <a:t>Parallelism OFF (s1q0): rougher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11183112" cy="2032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Interpolating Runtime Q-errors  ·  scripts/interpolation.py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7315194" cy="33969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341"/>
                <a:gridCol w="2039389"/>
                <a:gridCol w="620683"/>
                <a:gridCol w="620683"/>
                <a:gridCol w="532014"/>
                <a:gridCol w="620683"/>
                <a:gridCol w="620683"/>
                <a:gridCol w="532014"/>
                <a:gridCol w="709352"/>
                <a:gridCol w="70935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Q̃ᵤ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P90ᵤ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W5X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R²ᵤ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maxF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c5x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Savg%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Stk%</a:t>
                      </a:r>
                    </a:p>
                  </a:txBody>
                  <a:tcPr marL="54864" marR="36576" marT="18288" marB="18288" anchor="ctr">
                    <a:solidFill>
                      <a:srgbClr val="B12A2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uniform_stride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1.09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5.22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88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-0.09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5.5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54864" marR="36576" marT="18288" marB="18288" anchor="ctr">
                    <a:solidFill>
                      <a:srgbClr val="FDF1DD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bo_generic_sigma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2.84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0.62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32.6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smoothness_avg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2.67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16.6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gpr_fixed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1.38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5.5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random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3.64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6.0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bo_generic_ucb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1.18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2.37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96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-1.53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43.4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ottertune_max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1.83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6.3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ottertune_reconstruct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1.47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3.37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0.15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34.8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bo_generic_ei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1.56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-0.05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43.4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smoothness_max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1.68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2.25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0.19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43.4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54864" marR="36576" marT="18288" marB="18288" anchor="ctr">
                    <a:solidFill>
                      <a:srgbClr val="ECF3F4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Consolas"/>
                        </a:rPr>
                        <a:t>smoothness_topk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2.65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3.64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-3.16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43.4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57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A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029200"/>
            <a:ext cx="73152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onsolas"/>
              </a:rPr>
              <a:t>Q̃ᵤ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=median pred-q (unseen, ↓)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P90ᵤ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=90th pct (↓)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W5X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=%within 5× (↑)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R²ᵤ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(↑)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onsolas"/>
              </a:rPr>
              <a:t>maxF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=max q found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c5x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=%of q&gt;5 sampled (↑)   </a:t>
            </a:r>
            <a:r>
              <a:rPr sz="1600" b="1" i="0">
                <a:solidFill>
                  <a:srgbClr val="1F2A37"/>
                </a:solidFill>
                <a:latin typeface="Consolas"/>
              </a:rPr>
              <a:t>Savg%/Stk%</a:t>
            </a:r>
            <a:r>
              <a:rPr sz="1050" b="0" i="0">
                <a:solidFill>
                  <a:srgbClr val="1F2A37"/>
                </a:solidFill>
                <a:latin typeface="Segoe UI"/>
              </a:rPr>
              <a:t>=rel-err of S_avg / S_topk (↓)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Segoe UI"/>
              </a:rPr>
              <a:t>grid m0 (data-space uniform) · P=220 pairs · budget=22 (10%) · max true q = 43.4×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325880"/>
            <a:ext cx="3794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12A2A"/>
                </a:solidFill>
                <a:latin typeface="Segoe UI"/>
              </a:rPr>
              <a:t>BEST METHOD PER GOAL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6916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accuracy  Q̃↓: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uniform_stride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1488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fit  R²↑: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bo_generic_sigma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6060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worst-case  cov5x↑: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bo_generic_ucb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0632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S_avg  err↓: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smoothness_max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520440"/>
            <a:ext cx="3794760" cy="384048"/>
          </a:xfrm>
          <a:prstGeom prst="roundRect">
            <a:avLst>
              <a:gd name="adj" fmla="val 6000"/>
            </a:avLst>
          </a:prstGeom>
          <a:solidFill>
            <a:srgbClr val="B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S_topk  err↓: 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bo_generic_ei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11480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Surface is rougher: max q </a:t>
            </a:r>
            <a:r>
              <a:rPr sz="1200" b="1" i="0">
                <a:solidFill>
                  <a:srgbClr val="B12A2A"/>
                </a:solidFill>
                <a:latin typeface="Segoe UI"/>
              </a:rPr>
              <a:t>43×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 vs 25× — tails matter more.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0E7C86"/>
                </a:solidFill>
                <a:latin typeface="Consolas"/>
              </a:rPr>
              <a:t>bo_generic_sigma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: again most consistent (R²=0.62).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1F2A37"/>
                </a:solidFill>
                <a:latin typeface="Consolas"/>
              </a:rPr>
              <a:t>bo_ucb / bo_ei / smoothness_*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: find the 43× pair; interpolators miss it.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0E7C86"/>
                </a:solidFill>
                <a:latin typeface="Segoe UI"/>
              </a:rPr>
              <a:t>▸  </a:t>
            </a:r>
            <a:r>
              <a:rPr sz="1200" b="0" i="0">
                <a:solidFill>
                  <a:srgbClr val="B12A2A"/>
                </a:solidFill>
                <a:latin typeface="Segoe UI"/>
              </a:rPr>
              <a:t>uniform_stride wins median but has the worst tails (P90=5.2).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